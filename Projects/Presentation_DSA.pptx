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9FABA-AAED-4B5D-930F-B2B83D61788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96E60-E0EC-42C3-8C4C-B6B7D7FA4A2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DD433-409F-4551-BAC6-CEE242ECCDF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0996C0-72B3-41EA-8C61-45746BCF72C9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E3DD433-409F-4551-BAC6-CEE242ECCDF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F80996C0-72B3-41EA-8C61-45746BCF72C9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DD433-409F-4551-BAC6-CEE242ECCDF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996C0-72B3-41EA-8C61-45746BCF72C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DD433-409F-4551-BAC6-CEE242ECCDF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996C0-72B3-41EA-8C61-45746BCF72C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996C0-72B3-41EA-8C61-45746BCF72C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DD433-409F-4551-BAC6-CEE242ECCDF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DD433-409F-4551-BAC6-CEE242ECCDF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996C0-72B3-41EA-8C61-45746BCF72C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DD433-409F-4551-BAC6-CEE242ECCDF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996C0-72B3-41EA-8C61-45746BCF72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E3DD433-409F-4551-BAC6-CEE242ECCDF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80996C0-72B3-41EA-8C61-45746BCF72C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DD433-409F-4551-BAC6-CEE242ECCDF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0996C0-72B3-41EA-8C61-45746BCF72C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DD433-409F-4551-BAC6-CEE242ECCDF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996C0-72B3-41EA-8C61-45746BCF72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DD433-409F-4551-BAC6-CEE242ECCDF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996C0-72B3-41EA-8C61-45746BCF72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BE3DD433-409F-4551-BAC6-CEE242ECCDF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F80996C0-72B3-41EA-8C61-45746BCF72C9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685800"/>
            <a:ext cx="1173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IMPLEMENTATION OF STACK USING LINKED LIST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2514600" y="1676400"/>
            <a:ext cx="541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Subject : Data Structure</a:t>
            </a:r>
            <a:endParaRPr lang="en-US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524000" y="3886200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Presented by : </a:t>
            </a:r>
            <a:r>
              <a:rPr lang="en-US" sz="2400" b="1" u="sng" dirty="0" smtClean="0"/>
              <a:t>Darshan Gohil, Hardik Maru</a:t>
            </a:r>
            <a:endParaRPr lang="en-US" sz="2400" b="1" u="sng" dirty="0"/>
          </a:p>
        </p:txBody>
      </p:sp>
      <p:sp>
        <p:nvSpPr>
          <p:cNvPr id="7" name="TextBox 6"/>
          <p:cNvSpPr txBox="1"/>
          <p:nvPr/>
        </p:nvSpPr>
        <p:spPr>
          <a:xfrm>
            <a:off x="2057400" y="4800600"/>
            <a:ext cx="617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Topic : Stack Using Linked List</a:t>
            </a:r>
            <a:endParaRPr 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743200" y="2514600"/>
            <a:ext cx="533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Teach By : </a:t>
            </a:r>
            <a:r>
              <a:rPr lang="en-US" sz="2400" b="1" u="sng" dirty="0" smtClean="0"/>
              <a:t>Ruchita Shah</a:t>
            </a:r>
            <a:endParaRPr lang="en-US" sz="2400" b="1" u="sng" dirty="0"/>
          </a:p>
        </p:txBody>
      </p:sp>
    </p:spTree>
  </p:cSld>
  <p:clrMapOvr>
    <a:masterClrMapping/>
  </p:clrMapOvr>
  <p:transition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19400" y="533400"/>
            <a:ext cx="5029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What Is Stack?</a:t>
            </a:r>
            <a:endParaRPr lang="en-US" sz="4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762000" y="1295400"/>
            <a:ext cx="7696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Stack is a </a:t>
            </a:r>
            <a:r>
              <a:rPr lang="en-US" sz="2400" u="sng" dirty="0" smtClean="0"/>
              <a:t>linear data structure </a:t>
            </a:r>
            <a:r>
              <a:rPr lang="en-US" sz="2400" dirty="0" smtClean="0"/>
              <a:t> that follows : LIFO – Last In First Out</a:t>
            </a:r>
            <a:r>
              <a:rPr lang="en-US" sz="2400" u="sng" dirty="0" smtClean="0"/>
              <a:t> </a:t>
            </a:r>
            <a:endParaRPr lang="en-US" sz="2400" u="sng" dirty="0"/>
          </a:p>
        </p:txBody>
      </p:sp>
      <p:sp>
        <p:nvSpPr>
          <p:cNvPr id="7" name="Rectangle 6"/>
          <p:cNvSpPr/>
          <p:nvPr/>
        </p:nvSpPr>
        <p:spPr>
          <a:xfrm>
            <a:off x="3048000" y="2514600"/>
            <a:ext cx="34290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30</a:t>
            </a:r>
            <a:endParaRPr lang="en-US" sz="2800" b="1" dirty="0"/>
          </a:p>
        </p:txBody>
      </p:sp>
      <p:sp>
        <p:nvSpPr>
          <p:cNvPr id="8" name="Rectangle 7"/>
          <p:cNvSpPr/>
          <p:nvPr/>
        </p:nvSpPr>
        <p:spPr>
          <a:xfrm>
            <a:off x="3124200" y="3733800"/>
            <a:ext cx="3352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20</a:t>
            </a:r>
            <a:endParaRPr lang="en-US" sz="2800" b="1" dirty="0"/>
          </a:p>
        </p:txBody>
      </p:sp>
      <p:sp>
        <p:nvSpPr>
          <p:cNvPr id="9" name="Rectangle 8"/>
          <p:cNvSpPr/>
          <p:nvPr/>
        </p:nvSpPr>
        <p:spPr>
          <a:xfrm>
            <a:off x="3124200" y="4876800"/>
            <a:ext cx="3429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10</a:t>
            </a:r>
            <a:endParaRPr lang="en-US" sz="2800" b="1" dirty="0"/>
          </a:p>
        </p:txBody>
      </p:sp>
      <p:cxnSp>
        <p:nvCxnSpPr>
          <p:cNvPr id="13" name="Straight Arrow Connector 12"/>
          <p:cNvCxnSpPr>
            <a:endCxn id="7" idx="2"/>
          </p:cNvCxnSpPr>
          <p:nvPr/>
        </p:nvCxnSpPr>
        <p:spPr>
          <a:xfrm rot="16200000" flipV="1">
            <a:off x="4362450" y="3600450"/>
            <a:ext cx="1143000" cy="3429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5400000" flipH="1" flipV="1">
            <a:off x="4286250" y="4933950"/>
            <a:ext cx="10668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81800" y="266700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TOP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28800" y="457200"/>
            <a:ext cx="731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Stack Use In Real World</a:t>
            </a:r>
            <a:endParaRPr lang="en-US" sz="4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133600" y="1219200"/>
            <a:ext cx="792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 Plate Placed Last Is Removed First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1828800" y="1752600"/>
            <a:ext cx="7543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Basic Operations  Of Stack</a:t>
            </a:r>
            <a:endParaRPr lang="en-US" sz="4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819400"/>
          <a:ext cx="7391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5700"/>
                <a:gridCol w="3695700"/>
              </a:tblGrid>
              <a:tr h="640080"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/>
                        <a:t>                     </a:t>
                      </a:r>
                      <a:r>
                        <a:rPr lang="en-US" sz="2400" dirty="0" smtClean="0"/>
                        <a:t>Operation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</a:t>
                      </a:r>
                      <a:r>
                        <a:rPr lang="en-US" sz="2400" dirty="0" smtClean="0"/>
                        <a:t>Meaning</a:t>
                      </a:r>
                      <a:endParaRPr lang="en-US" dirty="0"/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Push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Insert an Element</a:t>
                      </a:r>
                      <a:endParaRPr lang="en-US" sz="2400" dirty="0"/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Pop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Delete an Element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Peek / Top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View Top Element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Display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Show all Elements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600" y="533400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Why Implement Stack Using Linked List?</a:t>
            </a:r>
            <a:endParaRPr lang="en-US" sz="3200" b="1" dirty="0"/>
          </a:p>
        </p:txBody>
      </p:sp>
      <p:sp>
        <p:nvSpPr>
          <p:cNvPr id="5" name="5-Point Star 4"/>
          <p:cNvSpPr/>
          <p:nvPr/>
        </p:nvSpPr>
        <p:spPr>
          <a:xfrm>
            <a:off x="609600" y="1295400"/>
            <a:ext cx="533400" cy="533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295400" y="1371600"/>
            <a:ext cx="701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Stack Implement In Two Ways</a:t>
            </a:r>
            <a:endParaRPr lang="en-US" sz="2000" b="1" dirty="0"/>
          </a:p>
        </p:txBody>
      </p:sp>
      <p:sp>
        <p:nvSpPr>
          <p:cNvPr id="7" name="Rectangle 6"/>
          <p:cNvSpPr/>
          <p:nvPr/>
        </p:nvSpPr>
        <p:spPr>
          <a:xfrm>
            <a:off x="3657600" y="1905000"/>
            <a:ext cx="1905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Stack</a:t>
            </a:r>
            <a:endParaRPr lang="en-US" sz="2400" b="1" dirty="0"/>
          </a:p>
        </p:txBody>
      </p:sp>
      <p:cxnSp>
        <p:nvCxnSpPr>
          <p:cNvPr id="9" name="Straight Arrow Connector 8"/>
          <p:cNvCxnSpPr/>
          <p:nvPr/>
        </p:nvCxnSpPr>
        <p:spPr>
          <a:xfrm rot="16200000" flipH="1">
            <a:off x="4438650" y="2838450"/>
            <a:ext cx="3810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990600" y="3048000"/>
            <a:ext cx="7086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5400000">
            <a:off x="7849394" y="3276600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5400000">
            <a:off x="762000" y="3275806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57200" y="3505200"/>
            <a:ext cx="1752600" cy="838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Array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7010400" y="3505200"/>
            <a:ext cx="1828800" cy="838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Linked List</a:t>
            </a:r>
            <a:endParaRPr lang="en-US" dirty="0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04800" y="457200"/>
            <a:ext cx="3200400" cy="6858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Array</a:t>
            </a:r>
            <a:endParaRPr lang="en-US" sz="2400" b="1" dirty="0"/>
          </a:p>
        </p:txBody>
      </p:sp>
      <p:sp>
        <p:nvSpPr>
          <p:cNvPr id="5" name="5-Point Star 4"/>
          <p:cNvSpPr/>
          <p:nvPr/>
        </p:nvSpPr>
        <p:spPr>
          <a:xfrm>
            <a:off x="533400" y="1524000"/>
            <a:ext cx="457200" cy="4572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143000" y="1524000"/>
            <a:ext cx="746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Fixed Memory Size</a:t>
            </a:r>
            <a:endParaRPr lang="en-US" sz="2400" dirty="0"/>
          </a:p>
        </p:txBody>
      </p:sp>
      <p:sp>
        <p:nvSpPr>
          <p:cNvPr id="7" name="5-Point Star 6"/>
          <p:cNvSpPr/>
          <p:nvPr/>
        </p:nvSpPr>
        <p:spPr>
          <a:xfrm>
            <a:off x="533400" y="2133600"/>
            <a:ext cx="457200" cy="4572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2209800"/>
            <a:ext cx="48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Memory Wastage If Not Use</a:t>
            </a:r>
            <a:endParaRPr lang="en-US" sz="2400" dirty="0"/>
          </a:p>
        </p:txBody>
      </p:sp>
      <p:sp>
        <p:nvSpPr>
          <p:cNvPr id="9" name="Rounded Rectangle 8"/>
          <p:cNvSpPr/>
          <p:nvPr/>
        </p:nvSpPr>
        <p:spPr>
          <a:xfrm>
            <a:off x="381000" y="3124200"/>
            <a:ext cx="3200400" cy="6858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Linked List</a:t>
            </a:r>
            <a:endParaRPr lang="en-US" sz="2400" b="1" dirty="0"/>
          </a:p>
        </p:txBody>
      </p:sp>
      <p:sp>
        <p:nvSpPr>
          <p:cNvPr id="10" name="5-Point Star 9"/>
          <p:cNvSpPr/>
          <p:nvPr/>
        </p:nvSpPr>
        <p:spPr>
          <a:xfrm>
            <a:off x="609600" y="4191000"/>
            <a:ext cx="457200" cy="457200"/>
          </a:xfrm>
          <a:prstGeom prst="star5">
            <a:avLst>
              <a:gd name="adj" fmla="val 21064"/>
              <a:gd name="hf" fmla="val 105146"/>
              <a:gd name="vf" fmla="val 1105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95400" y="4267200"/>
            <a:ext cx="510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Dynamic Memory Size</a:t>
            </a:r>
            <a:endParaRPr lang="en-US" sz="2400" dirty="0"/>
          </a:p>
        </p:txBody>
      </p:sp>
      <p:sp>
        <p:nvSpPr>
          <p:cNvPr id="12" name="5-Point Star 11"/>
          <p:cNvSpPr/>
          <p:nvPr/>
        </p:nvSpPr>
        <p:spPr>
          <a:xfrm>
            <a:off x="609600" y="4953000"/>
            <a:ext cx="457200" cy="4572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295400" y="4953000"/>
            <a:ext cx="472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Memory Used As Required</a:t>
            </a:r>
            <a:endParaRPr lang="en-US" sz="2400" dirty="0"/>
          </a:p>
        </p:txBody>
      </p:sp>
    </p:spTree>
  </p:cSld>
  <p:clrMapOvr>
    <a:masterClrMapping/>
  </p:clrMapOvr>
  <p:transition>
    <p:cut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600" y="533400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Stack Using Linked List</a:t>
            </a:r>
            <a:endParaRPr lang="en-US" sz="36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47800" y="14478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NEXT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2133600"/>
            <a:ext cx="48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Example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1600200" y="2971800"/>
            <a:ext cx="3048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30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4648200" y="2971800"/>
            <a:ext cx="2895600" cy="609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200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4648200" y="4038600"/>
            <a:ext cx="2895600" cy="609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  <a:r>
              <a:rPr lang="en-US" sz="2400" dirty="0" smtClean="0"/>
              <a:t>00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1600200" y="4038600"/>
            <a:ext cx="3048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20</a:t>
            </a:r>
          </a:p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600200" y="5257800"/>
            <a:ext cx="30480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10</a:t>
            </a:r>
            <a:endParaRPr lang="en-US" sz="2400" b="1" dirty="0"/>
          </a:p>
        </p:txBody>
      </p:sp>
      <p:sp>
        <p:nvSpPr>
          <p:cNvPr id="14" name="Rectangle 13"/>
          <p:cNvSpPr/>
          <p:nvPr/>
        </p:nvSpPr>
        <p:spPr>
          <a:xfrm>
            <a:off x="4648200" y="5257800"/>
            <a:ext cx="2895600" cy="609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NULL</a:t>
            </a:r>
            <a:endParaRPr lang="en-US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4419600" y="3581400"/>
            <a:ext cx="236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300</a:t>
            </a:r>
            <a:endParaRPr 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4343400" y="4724400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200</a:t>
            </a:r>
            <a:endParaRPr 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4419600" y="5943600"/>
            <a:ext cx="16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  <a:r>
              <a:rPr lang="en-US" sz="2000" dirty="0" smtClean="0"/>
              <a:t>00</a:t>
            </a:r>
            <a:endParaRPr lang="en-US" sz="2000" dirty="0"/>
          </a:p>
        </p:txBody>
      </p:sp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57400" y="533400"/>
            <a:ext cx="54102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latin typeface="Agent Orange" pitchFamily="2" charset="0"/>
                <a:cs typeface="Agent Orange" pitchFamily="2" charset="0"/>
              </a:rPr>
              <a:t>PUSH ALGORITHM</a:t>
            </a:r>
            <a:endParaRPr lang="en-US" sz="2800" b="1" dirty="0">
              <a:latin typeface="Agent Orange" pitchFamily="2" charset="0"/>
              <a:cs typeface="Agent Orange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62200" y="1828800"/>
            <a:ext cx="617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Suppose Stack : TOP -&gt; 30  -&gt;  20 -&gt; 10 -&gt; NULL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438400" y="2286000"/>
            <a:ext cx="693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Push(40) : TOP -&gt; 40 -&gt; 30 -&gt; 20 -&gt; 10 -&gt; NULL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981200" y="2971800"/>
            <a:ext cx="7772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2800" dirty="0" smtClean="0"/>
              <a:t>CREATE A New Node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800" dirty="0" smtClean="0"/>
              <a:t>Store Data In New Node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800" dirty="0" smtClean="0"/>
              <a:t>Set NewNode-&gt;NEXT = TOP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800" dirty="0" smtClean="0"/>
              <a:t>Set Top = NewNode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800" dirty="0" smtClean="0"/>
              <a:t>STOP </a:t>
            </a:r>
          </a:p>
        </p:txBody>
      </p:sp>
    </p:spTree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57400" y="533400"/>
            <a:ext cx="54102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latin typeface="Agent Orange" pitchFamily="2" charset="0"/>
                <a:cs typeface="Agent Orange" pitchFamily="2" charset="0"/>
              </a:rPr>
              <a:t>pop ALGORITHM</a:t>
            </a:r>
            <a:endParaRPr lang="en-US" sz="2800" b="1" dirty="0">
              <a:latin typeface="Agent Orange" pitchFamily="2" charset="0"/>
              <a:cs typeface="Agent Orange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62200" y="1828800"/>
            <a:ext cx="617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Before : TOP -&gt; 40 -&gt; 30  -&gt;  20 -&gt; 10 -&gt; NULL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438400" y="2286000"/>
            <a:ext cx="693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Pop : TOP -&gt; 30 -&gt; 20 -&gt; 10 -&gt; NULL</a:t>
            </a:r>
          </a:p>
          <a:p>
            <a:r>
              <a:rPr lang="en-US" dirty="0" smtClean="0"/>
              <a:t>40 is removed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981200" y="3124200"/>
            <a:ext cx="7772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2800" dirty="0" smtClean="0"/>
              <a:t>Check Whether Top Is NULL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800" dirty="0" smtClean="0"/>
              <a:t>IF TOP = NULL -&gt; Stack Underflow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800" dirty="0" smtClean="0"/>
              <a:t>Store TOP in Temporary Pointer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800" dirty="0" smtClean="0"/>
              <a:t>Move TOP To TOP-&gt;NEXT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800" dirty="0" smtClean="0"/>
              <a:t>DELETE / FREE Temporary Node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800" dirty="0" smtClean="0"/>
              <a:t>STOP </a:t>
            </a:r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3400" y="533400"/>
            <a:ext cx="83058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latin typeface="Agent Orange" pitchFamily="2" charset="0"/>
                <a:cs typeface="Agent Orange" pitchFamily="2" charset="0"/>
              </a:rPr>
              <a:t>PEEP / PEAK ALGORITHM</a:t>
            </a:r>
            <a:endParaRPr lang="en-US" sz="2800" b="1" dirty="0">
              <a:latin typeface="Agent Orange" pitchFamily="2" charset="0"/>
              <a:cs typeface="Agent Orange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76400" y="2133600"/>
            <a:ext cx="6934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Show The Top Most Element Of Stack Without Deleting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752600" y="2667000"/>
            <a:ext cx="7772400" cy="2677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2400" dirty="0" smtClean="0"/>
              <a:t>START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400" dirty="0" smtClean="0"/>
              <a:t>IF TOP = NULL Then</a:t>
            </a:r>
          </a:p>
          <a:p>
            <a:pPr marL="342900" indent="-342900" algn="just"/>
            <a:r>
              <a:rPr lang="en-US" sz="2400" dirty="0" smtClean="0"/>
              <a:t>	Print(‘</a:t>
            </a:r>
            <a:r>
              <a:rPr lang="en-US" sz="2400" dirty="0" smtClean="0"/>
              <a:t>Stack Empty’)</a:t>
            </a:r>
          </a:p>
          <a:p>
            <a:pPr marL="342900" indent="-342900" algn="just"/>
            <a:r>
              <a:rPr lang="en-US" sz="2400" dirty="0"/>
              <a:t>	</a:t>
            </a:r>
            <a:r>
              <a:rPr lang="en-US" sz="2400" dirty="0" smtClean="0"/>
              <a:t>GO TO STEP 5</a:t>
            </a:r>
          </a:p>
          <a:p>
            <a:pPr marL="342900" indent="-342900" algn="just"/>
            <a:r>
              <a:rPr lang="en-US" sz="2400" dirty="0" smtClean="0"/>
              <a:t>3. Print TOP-&gt;DATA</a:t>
            </a:r>
          </a:p>
          <a:p>
            <a:pPr marL="514350" indent="-514350" algn="just"/>
            <a:r>
              <a:rPr lang="en-US" sz="2400" dirty="0"/>
              <a:t>4</a:t>
            </a:r>
            <a:r>
              <a:rPr lang="en-US" sz="2400" dirty="0" smtClean="0"/>
              <a:t>. RETURN</a:t>
            </a:r>
          </a:p>
          <a:p>
            <a:pPr marL="342900" indent="-342900" algn="just"/>
            <a:r>
              <a:rPr lang="en-US" sz="2400" dirty="0" smtClean="0"/>
              <a:t>5. STOP </a:t>
            </a:r>
          </a:p>
        </p:txBody>
      </p:sp>
    </p:spTree>
  </p:cSld>
  <p:clrMapOvr>
    <a:masterClrMapping/>
  </p:clrMapOvr>
  <p:transition>
    <p:wipe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00200" y="533400"/>
            <a:ext cx="60960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latin typeface="Agent Orange" pitchFamily="2" charset="0"/>
                <a:cs typeface="Agent Orange" pitchFamily="2" charset="0"/>
              </a:rPr>
              <a:t>Display ALGORITHM</a:t>
            </a:r>
            <a:endParaRPr lang="en-US" sz="2800" b="1" dirty="0">
              <a:latin typeface="Agent Orange" pitchFamily="2" charset="0"/>
              <a:cs typeface="Agent Orange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76400" y="2133600"/>
            <a:ext cx="6934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Show The Data Of Stack In LIFO Style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752600" y="2667000"/>
            <a:ext cx="7772400" cy="378565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2400" dirty="0" smtClean="0"/>
              <a:t>START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400" dirty="0" smtClean="0"/>
              <a:t>IF TOP = NULL Then</a:t>
            </a:r>
          </a:p>
          <a:p>
            <a:pPr marL="342900" indent="-342900" algn="just"/>
            <a:r>
              <a:rPr lang="en-US" sz="2400" dirty="0" smtClean="0"/>
              <a:t>	Print(‘</a:t>
            </a:r>
            <a:r>
              <a:rPr lang="en-US" sz="2400" dirty="0" smtClean="0"/>
              <a:t>Stack Empty’)</a:t>
            </a:r>
          </a:p>
          <a:p>
            <a:pPr marL="342900" indent="-342900" algn="just"/>
            <a:r>
              <a:rPr lang="en-US" sz="2400" dirty="0"/>
              <a:t>	</a:t>
            </a:r>
            <a:r>
              <a:rPr lang="en-US" sz="2400" dirty="0" smtClean="0"/>
              <a:t>GO TO STEP </a:t>
            </a:r>
            <a:r>
              <a:rPr lang="en-US" sz="2400" dirty="0"/>
              <a:t>6</a:t>
            </a:r>
            <a:endParaRPr lang="en-US" sz="2400" dirty="0" smtClean="0"/>
          </a:p>
          <a:p>
            <a:pPr marL="342900" indent="-342900" algn="just"/>
            <a:r>
              <a:rPr lang="en-US" sz="2400" dirty="0" smtClean="0"/>
              <a:t>3. Set TEMP = TOP </a:t>
            </a:r>
          </a:p>
          <a:p>
            <a:pPr marL="514350" indent="-514350" algn="just"/>
            <a:r>
              <a:rPr lang="en-US" sz="2400" dirty="0" smtClean="0"/>
              <a:t>4. Repeat WHILE Temp != NULL</a:t>
            </a:r>
          </a:p>
          <a:p>
            <a:pPr marL="514350" indent="-514350" algn="just"/>
            <a:r>
              <a:rPr lang="en-US" sz="2400" dirty="0" smtClean="0"/>
              <a:t>    Print TEMP-&gt;DATA</a:t>
            </a:r>
          </a:p>
          <a:p>
            <a:pPr marL="514350" indent="-514350" algn="just"/>
            <a:r>
              <a:rPr lang="en-US" sz="2400" dirty="0" smtClean="0"/>
              <a:t>    TEMP = TEMP-&gt;NEXT</a:t>
            </a:r>
          </a:p>
          <a:p>
            <a:pPr marL="514350" indent="-514350" algn="just"/>
            <a:r>
              <a:rPr lang="en-US" sz="2400" dirty="0" smtClean="0"/>
              <a:t>5. RETURN</a:t>
            </a:r>
          </a:p>
          <a:p>
            <a:pPr marL="342900" indent="-342900" algn="just"/>
            <a:r>
              <a:rPr lang="en-US" sz="2400" dirty="0"/>
              <a:t>6</a:t>
            </a:r>
            <a:r>
              <a:rPr lang="en-US" sz="2400" dirty="0" smtClean="0"/>
              <a:t>. STOP </a:t>
            </a:r>
          </a:p>
        </p:txBody>
      </p:sp>
    </p:spTree>
  </p:cSld>
  <p:clrMapOvr>
    <a:masterClrMapping/>
  </p:clrMapOvr>
  <p:transition>
    <p:wedg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533400"/>
            <a:ext cx="9372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Algerian" pitchFamily="82" charset="0"/>
              </a:rPr>
              <a:t>Advantages Of Stack Using Linked List</a:t>
            </a:r>
            <a:endParaRPr lang="en-US" sz="3200" dirty="0">
              <a:latin typeface="Algerian" pitchFamily="8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7772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sz="2400" dirty="0" smtClean="0"/>
              <a:t> Dynamic Size  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sz="2400" dirty="0" smtClean="0"/>
              <a:t> No Fixed Capacity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sz="2400" dirty="0" smtClean="0"/>
              <a:t> Efficient INSERTION / DELITION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sz="2400" dirty="0" smtClean="0"/>
              <a:t> PUSH And POP take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sz="2400" dirty="0" smtClean="0"/>
              <a:t> O(1) Time Complexity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sz="2400" dirty="0" smtClean="0"/>
              <a:t> Memory Allocated As Required</a:t>
            </a:r>
            <a:endParaRPr lang="en-US" sz="2400" dirty="0"/>
          </a:p>
        </p:txBody>
      </p:sp>
    </p:spTree>
  </p:cSld>
  <p:clrMapOvr>
    <a:masterClrMapping/>
  </p:clrMapOvr>
  <p:transition>
    <p:pull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228600" y="533400"/>
            <a:ext cx="967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Algerian" pitchFamily="82" charset="0"/>
              </a:rPr>
              <a:t>DISAdvantages Of Stack using Linked List</a:t>
            </a:r>
            <a:endParaRPr lang="en-US" sz="2800" dirty="0">
              <a:latin typeface="Algerian" pitchFamily="8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1447800"/>
            <a:ext cx="7772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smtClean="0"/>
              <a:t>Extra Memory Required For Next Pointer  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sz="2400" dirty="0" smtClean="0"/>
              <a:t> Pointer Handling Is Required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sz="2400" dirty="0" smtClean="0"/>
              <a:t> Random Access Is Not Possible</a:t>
            </a:r>
          </a:p>
        </p:txBody>
      </p:sp>
    </p:spTree>
  </p:cSld>
  <p:clrMapOvr>
    <a:masterClrMapping/>
  </p:clrMapOvr>
  <p:transition>
    <p:pull dir="r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81200" y="457200"/>
            <a:ext cx="5334000" cy="762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Applications Of Stack</a:t>
            </a:r>
            <a:endParaRPr lang="en-US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33400" y="1600200"/>
            <a:ext cx="8077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dirty="0" smtClean="0"/>
              <a:t> Function Calls 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 smtClean="0"/>
              <a:t> Recursion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/>
              <a:t> </a:t>
            </a:r>
            <a:r>
              <a:rPr lang="en-US" sz="2400" dirty="0" smtClean="0"/>
              <a:t>Undo / Redo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/>
              <a:t> </a:t>
            </a:r>
            <a:r>
              <a:rPr lang="en-US" sz="2400" dirty="0" smtClean="0"/>
              <a:t>Browser Back Button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/>
              <a:t> </a:t>
            </a:r>
            <a:r>
              <a:rPr lang="en-US" sz="2400" dirty="0" smtClean="0"/>
              <a:t>Parentheses Matching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/>
              <a:t> </a:t>
            </a:r>
            <a:r>
              <a:rPr lang="en-US" sz="2400" dirty="0" smtClean="0"/>
              <a:t>Expression Evalution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/>
              <a:t> </a:t>
            </a:r>
            <a:r>
              <a:rPr lang="en-US" sz="2400" dirty="0" smtClean="0"/>
              <a:t>DFS Traversal</a:t>
            </a:r>
            <a:endParaRPr lang="en-US" sz="2400" dirty="0"/>
          </a:p>
        </p:txBody>
      </p:sp>
    </p:spTree>
  </p:cSld>
  <p:clrMapOvr>
    <a:masterClrMapping/>
  </p:clrMapOvr>
  <p:transition>
    <p:randomBar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135</TotalTime>
  <Words>363</Words>
  <Application>Microsoft Office PowerPoint</Application>
  <PresentationFormat>On-screen Show (4:3)</PresentationFormat>
  <Paragraphs>106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Paper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Darshan</dc:creator>
  <cp:lastModifiedBy>Darshan</cp:lastModifiedBy>
  <cp:revision>27</cp:revision>
  <dcterms:created xsi:type="dcterms:W3CDTF">2026-09-24T16:11:55Z</dcterms:created>
  <dcterms:modified xsi:type="dcterms:W3CDTF">2026-09-24T18:27:48Z</dcterms:modified>
</cp:coreProperties>
</file>