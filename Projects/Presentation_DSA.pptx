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64" d="100"/>
          <a:sy n="64" d="100"/>
        </p:scale>
        <p:origin x="-1336" y="-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19FABA-AAED-4B5D-930F-B2B83D617882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396E60-E0EC-42C3-8C4C-B6B7D7FA4A2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457200" y="3699804"/>
            <a:ext cx="8305800" cy="1143000"/>
          </a:xfrm>
        </p:spPr>
        <p:txBody>
          <a:bodyPr>
            <a:noAutofit/>
          </a:bodyPr>
          <a:lstStyle>
            <a:lvl1pPr marL="0" indent="0" algn="ctr">
              <a:buNone/>
              <a:defRPr sz="2200" spc="100" baseline="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28" name="Title 27"/>
          <p:cNvSpPr>
            <a:spLocks noGrp="1"/>
          </p:cNvSpPr>
          <p:nvPr>
            <p:ph type="ctrTitle"/>
          </p:nvPr>
        </p:nvSpPr>
        <p:spPr>
          <a:xfrm>
            <a:off x="457200" y="1433732"/>
            <a:ext cx="8305800" cy="1981200"/>
          </a:xfrm>
          <a:ln w="6350" cap="rnd">
            <a:noFill/>
          </a:ln>
        </p:spPr>
        <p:txBody>
          <a:bodyPr anchor="b" anchorCtr="0">
            <a:noAutofit/>
          </a:bodyPr>
          <a:lstStyle>
            <a:lvl1pPr algn="ctr">
              <a:defRPr lang="en-US" sz="4800" b="0" dirty="0">
                <a:ln w="3200">
                  <a:solidFill>
                    <a:schemeClr val="bg2">
                      <a:shade val="75000"/>
                      <a:alpha val="25000"/>
                    </a:schemeClr>
                  </a:solidFill>
                  <a:prstDash val="solid"/>
                  <a:round/>
                </a:ln>
                <a:solidFill>
                  <a:srgbClr val="F9F9F9"/>
                </a:solidFill>
                <a:effectLst>
                  <a:innerShdw blurRad="50800" dist="25400" dir="13500000">
                    <a:srgbClr val="000000">
                      <a:alpha val="70000"/>
                    </a:srgbClr>
                  </a:innerShdw>
                </a:effectLst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1463626" y="3550126"/>
            <a:ext cx="2971800" cy="1588"/>
          </a:xfrm>
          <a:prstGeom prst="line">
            <a:avLst/>
          </a:prstGeom>
          <a:ln w="9525" cap="flat" cmpd="sng" algn="ctr">
            <a:solidFill>
              <a:schemeClr val="bg2">
                <a:tint val="20000"/>
              </a:schemeClr>
            </a:solidFill>
            <a:prstDash val="solid"/>
          </a:ln>
          <a:effectLst>
            <a:outerShdw blurRad="31750" dir="2700000" algn="tl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4708574" y="3550126"/>
            <a:ext cx="2971800" cy="1588"/>
          </a:xfrm>
          <a:prstGeom prst="line">
            <a:avLst/>
          </a:prstGeom>
          <a:ln w="9525" cap="flat" cmpd="sng" algn="ctr">
            <a:solidFill>
              <a:schemeClr val="bg2">
                <a:tint val="20000"/>
              </a:schemeClr>
            </a:solidFill>
            <a:prstDash val="solid"/>
          </a:ln>
          <a:effectLst>
            <a:outerShdw blurRad="31750" dir="2700000" algn="tl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540348" y="3526302"/>
            <a:ext cx="45720" cy="45720"/>
          </a:xfrm>
          <a:prstGeom prst="ellipse">
            <a:avLst/>
          </a:prstGeom>
          <a:effectLst>
            <a:outerShdw blurRad="31750" dir="2700000" algn="tl" rotWithShape="0">
              <a:srgbClr val="000000">
                <a:alpha val="55000"/>
              </a:srgbClr>
            </a:outerShdw>
          </a:effectLst>
        </p:spPr>
        <p:style>
          <a:lnRef idx="2">
            <a:schemeClr val="accent2"/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Date Placeholder 1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DD433-409F-4551-BAC6-CEE242ECCDF8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80996C0-72B3-41EA-8C61-45746BCF72C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457200" y="1524000"/>
            <a:ext cx="8229600" cy="45720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BE3DD433-409F-4551-BAC6-CEE242ECCDF8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 algn="ctr">
              <a:defRPr/>
            </a:lvl1pPr>
          </a:lstStyle>
          <a:p>
            <a:fld id="{F80996C0-72B3-41EA-8C61-45746BCF72C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Title 16"/>
          <p:cNvSpPr>
            <a:spLocks noGrp="1"/>
          </p:cNvSpPr>
          <p:nvPr>
            <p:ph type="title"/>
          </p:nvPr>
        </p:nvSpPr>
        <p:spPr/>
        <p:txBody>
          <a:bodyPr rtlCol="0" anchor="b" anchorCtr="0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DD433-409F-4551-BAC6-CEE242ECCDF8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996C0-72B3-41EA-8C61-45746BCF72C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505200"/>
            <a:ext cx="7924800" cy="1371600"/>
          </a:xfrm>
        </p:spPr>
        <p:txBody>
          <a:bodyPr>
            <a:noAutofit/>
          </a:bodyPr>
          <a:lstStyle>
            <a:lvl1pPr algn="l" rtl="0">
              <a:spcBef>
                <a:spcPct val="0"/>
              </a:spcBef>
              <a:buNone/>
              <a:defRPr lang="en-US" sz="4800" b="0" dirty="0">
                <a:ln w="3200">
                  <a:solidFill>
                    <a:schemeClr val="bg2">
                      <a:shade val="25000"/>
                      <a:alpha val="25000"/>
                    </a:schemeClr>
                  </a:solidFill>
                  <a:prstDash val="solid"/>
                  <a:round/>
                </a:ln>
                <a:solidFill>
                  <a:srgbClr val="F9F9F9"/>
                </a:solidFill>
                <a:effectLst>
                  <a:innerShdw blurRad="38100" dist="25400" dir="13500000">
                    <a:prstClr val="black">
                      <a:alpha val="70000"/>
                    </a:prstClr>
                  </a:innerShdw>
                </a:effectLst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958864"/>
            <a:ext cx="7924800" cy="984736"/>
          </a:xfrm>
        </p:spPr>
        <p:txBody>
          <a:bodyPr anchor="t"/>
          <a:lstStyle>
            <a:lvl1pPr marL="0" indent="0">
              <a:buNone/>
              <a:defRPr sz="2000" spc="100" baseline="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685800" y="4916992"/>
            <a:ext cx="7924800" cy="4301"/>
          </a:xfrm>
          <a:prstGeom prst="line">
            <a:avLst/>
          </a:prstGeom>
          <a:noFill/>
          <a:ln w="9525" cap="flat" cmpd="sng" algn="ctr">
            <a:solidFill>
              <a:srgbClr val="E9E9E8"/>
            </a:solidFill>
            <a:prstDash val="solid"/>
          </a:ln>
          <a:effectLst>
            <a:outerShdw blurRad="31750" dir="2700000" algn="tl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DD433-409F-4551-BAC6-CEE242ECCDF8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996C0-72B3-41EA-8C61-45746BCF72C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half" idx="1"/>
          </p:nvPr>
        </p:nvSpPr>
        <p:spPr>
          <a:xfrm>
            <a:off x="457200" y="1524000"/>
            <a:ext cx="4059936" cy="45720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half" idx="2"/>
          </p:nvPr>
        </p:nvSpPr>
        <p:spPr>
          <a:xfrm>
            <a:off x="4648200" y="1524000"/>
            <a:ext cx="4059936" cy="45720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996C0-72B3-41EA-8C61-45746BCF72C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DD433-409F-4551-BAC6-CEE242ECCDF8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9593"/>
            <a:ext cx="4040188" cy="762000"/>
          </a:xfrm>
          <a:noFill/>
          <a:ln w="25400" cap="rnd" cmpd="sng" algn="ctr">
            <a:noFill/>
            <a:prstDash val="solid"/>
          </a:ln>
          <a:effectLst>
            <a:softEdge rad="63500"/>
          </a:effectLst>
          <a:sp3d prstMaterial="flat"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lIns="91440" tIns="45720" rIns="91440" bIns="45720" anchor="b">
            <a:noAutofit/>
          </a:bodyPr>
          <a:lstStyle>
            <a:lvl1pPr marL="0" indent="0" algn="l">
              <a:spcBef>
                <a:spcPts val="0"/>
              </a:spcBef>
              <a:buNone/>
              <a:defRPr sz="2600" b="1">
                <a:solidFill>
                  <a:schemeClr val="tx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2" name="Content Placeholder 31"/>
          <p:cNvSpPr>
            <a:spLocks noGrp="1"/>
          </p:cNvSpPr>
          <p:nvPr>
            <p:ph sz="half" idx="2"/>
          </p:nvPr>
        </p:nvSpPr>
        <p:spPr>
          <a:xfrm>
            <a:off x="457200" y="2201896"/>
            <a:ext cx="4038600" cy="3913632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34" name="Content Placeholder 33"/>
          <p:cNvSpPr>
            <a:spLocks noGrp="1"/>
          </p:cNvSpPr>
          <p:nvPr>
            <p:ph sz="quarter" idx="4"/>
          </p:nvPr>
        </p:nvSpPr>
        <p:spPr>
          <a:xfrm>
            <a:off x="4649788" y="2201896"/>
            <a:ext cx="4038600" cy="3913632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"/>
            <a:ext cx="8229600" cy="1143000"/>
          </a:xfrm>
        </p:spPr>
        <p:txBody>
          <a:bodyPr anchor="b" anchorCtr="0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2" name="Text Placeholder 11"/>
          <p:cNvSpPr>
            <a:spLocks noGrp="1"/>
          </p:cNvSpPr>
          <p:nvPr>
            <p:ph type="body" idx="3"/>
          </p:nvPr>
        </p:nvSpPr>
        <p:spPr>
          <a:xfrm>
            <a:off x="4648200" y="1399593"/>
            <a:ext cx="4040188" cy="762000"/>
          </a:xfrm>
          <a:noFill/>
          <a:ln w="25400" cap="rnd" cmpd="sng" algn="ctr">
            <a:noFill/>
            <a:prstDash val="solid"/>
          </a:ln>
          <a:effectLst>
            <a:softEdge rad="63500"/>
          </a:effectLst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lIns="91440" tIns="45720" rIns="91440" bIns="45720" anchor="b">
            <a:noAutofit/>
          </a:bodyPr>
          <a:lstStyle>
            <a:lvl1pPr marL="0" indent="0" algn="l">
              <a:spcBef>
                <a:spcPts val="0"/>
              </a:spcBef>
              <a:buNone/>
              <a:defRPr sz="2600" b="1" baseline="0">
                <a:solidFill>
                  <a:schemeClr val="tx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cxnSp>
        <p:nvCxnSpPr>
          <p:cNvPr id="10" name="Straight Connector 9"/>
          <p:cNvCxnSpPr/>
          <p:nvPr/>
        </p:nvCxnSpPr>
        <p:spPr>
          <a:xfrm>
            <a:off x="562945" y="2180219"/>
            <a:ext cx="3749040" cy="1588"/>
          </a:xfrm>
          <a:prstGeom prst="line">
            <a:avLst/>
          </a:prstGeom>
          <a:noFill/>
          <a:ln w="12700" cap="flat" cmpd="sng" algn="ctr">
            <a:solidFill>
              <a:schemeClr val="bg2">
                <a:tint val="20000"/>
              </a:schemeClr>
            </a:solidFill>
            <a:prstDash val="solid"/>
          </a:ln>
          <a:effectLst>
            <a:outerShdw blurRad="34925" dir="2700000" algn="tl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4754880" y="2180219"/>
            <a:ext cx="3749040" cy="1588"/>
          </a:xfrm>
          <a:prstGeom prst="line">
            <a:avLst/>
          </a:prstGeom>
          <a:noFill/>
          <a:ln w="12700" cap="flat" cmpd="sng" algn="ctr">
            <a:solidFill>
              <a:schemeClr val="bg2">
                <a:tint val="20000"/>
              </a:schemeClr>
            </a:solidFill>
            <a:prstDash val="solid"/>
          </a:ln>
          <a:effectLst>
            <a:outerShdw blurRad="34925" dir="2700000" algn="tl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DD433-409F-4551-BAC6-CEE242ECCDF8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996C0-72B3-41EA-8C61-45746BCF72C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DD433-409F-4551-BAC6-CEE242ECCDF8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996C0-72B3-41EA-8C61-45746BCF72C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ntent Placeholder 28"/>
          <p:cNvSpPr>
            <a:spLocks noGrp="1"/>
          </p:cNvSpPr>
          <p:nvPr>
            <p:ph sz="quarter" idx="1"/>
          </p:nvPr>
        </p:nvSpPr>
        <p:spPr>
          <a:xfrm>
            <a:off x="457200" y="457200"/>
            <a:ext cx="6248400" cy="57150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781800" y="1600200"/>
            <a:ext cx="1984248" cy="3733800"/>
          </a:xfrm>
        </p:spPr>
        <p:txBody>
          <a:bodyPr tIns="45720" bIns="45720" anchor="t" anchorCtr="0"/>
          <a:lstStyle>
            <a:lvl1pPr marL="0" indent="0">
              <a:lnSpc>
                <a:spcPct val="1250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1" name="Title 30"/>
          <p:cNvSpPr>
            <a:spLocks noGrp="1"/>
          </p:cNvSpPr>
          <p:nvPr>
            <p:ph type="title"/>
          </p:nvPr>
        </p:nvSpPr>
        <p:spPr>
          <a:xfrm>
            <a:off x="6781800" y="457200"/>
            <a:ext cx="1981200" cy="1066800"/>
          </a:xfrm>
        </p:spPr>
        <p:txBody>
          <a:bodyPr lIns="91440" tIns="91440" anchor="b" anchorCtr="0"/>
          <a:lstStyle>
            <a:lvl1pPr algn="l">
              <a:buNone/>
              <a:defRPr sz="1800" b="1" spc="-50" baseline="0">
                <a:ln w="3175"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BE3DD433-409F-4551-BAC6-CEE242ECCDF8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80996C0-72B3-41EA-8C61-45746BCF72C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9400" y="457200"/>
            <a:ext cx="2057400" cy="1066800"/>
          </a:xfrm>
        </p:spPr>
        <p:txBody>
          <a:bodyPr lIns="91440" tIns="91440" anchor="b" anchorCtr="0"/>
          <a:lstStyle>
            <a:lvl1pPr algn="l">
              <a:buNone/>
              <a:defRPr sz="1800" b="1" spc="-50" baseline="0">
                <a:ln w="3175"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457200"/>
            <a:ext cx="6019800" cy="5562600"/>
          </a:xfrm>
          <a:solidFill>
            <a:schemeClr val="tx2">
              <a:tint val="40000"/>
            </a:schemeClr>
          </a:solidFill>
          <a:effectLst>
            <a:outerShdw blurRad="88900" sx="103000" sy="103000" algn="ctr" rotWithShape="0">
              <a:prstClr val="black">
                <a:alpha val="32000"/>
              </a:prstClr>
            </a:outerShdw>
            <a:softEdge rad="127000"/>
          </a:effectLst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</a:lstStyle>
          <a:p>
            <a:r>
              <a:rPr kumimoji="0" lang="en-US" smtClean="0"/>
              <a:t>Click icon to add picture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9400" y="1600200"/>
            <a:ext cx="2057400" cy="4419600"/>
          </a:xfrm>
        </p:spPr>
        <p:txBody>
          <a:bodyPr anchor="t" anchorCtr="0"/>
          <a:lstStyle>
            <a:lvl1pPr marL="0" indent="0">
              <a:lnSpc>
                <a:spcPct val="125000"/>
              </a:lnSpc>
              <a:spcAft>
                <a:spcPts val="1000"/>
              </a:spcAft>
              <a:buFontTx/>
              <a:buNone/>
              <a:defRPr sz="1600" b="0">
                <a:solidFill>
                  <a:schemeClr val="tx2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DD433-409F-4551-BAC6-CEE242ECCDF8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80996C0-72B3-41EA-8C61-45746BCF72C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DD433-409F-4551-BAC6-CEE242ECCDF8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996C0-72B3-41EA-8C61-45746BCF72C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DD433-409F-4551-BAC6-CEE242ECCDF8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996C0-72B3-41EA-8C61-45746BCF72C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idx="1"/>
          </p:nvPr>
        </p:nvSpPr>
        <p:spPr>
          <a:xfrm>
            <a:off x="457200" y="1447800"/>
            <a:ext cx="8229600" cy="4678363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24" name="Date Placeholder 23"/>
          <p:cNvSpPr>
            <a:spLocks noGrp="1"/>
          </p:cNvSpPr>
          <p:nvPr>
            <p:ph type="dt" sz="half" idx="2"/>
          </p:nvPr>
        </p:nvSpPr>
        <p:spPr>
          <a:xfrm>
            <a:off x="5791200" y="6203667"/>
            <a:ext cx="2590800" cy="384048"/>
          </a:xfrm>
          <a:prstGeom prst="rect">
            <a:avLst/>
          </a:prstGeom>
        </p:spPr>
        <p:txBody>
          <a:bodyPr vert="horz" anchor="ctr" anchorCtr="0"/>
          <a:lstStyle>
            <a:lvl1pPr algn="l" eaLnBrk="1" latinLnBrk="0" hangingPunct="1">
              <a:defRPr kumimoji="0" sz="1200">
                <a:solidFill>
                  <a:schemeClr val="tx2"/>
                </a:solidFill>
              </a:defRPr>
            </a:lvl1pPr>
          </a:lstStyle>
          <a:p>
            <a:fld id="{BE3DD433-409F-4551-BAC6-CEE242ECCDF8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2133600" y="6203667"/>
            <a:ext cx="3581400" cy="384048"/>
          </a:xfrm>
          <a:prstGeom prst="rect">
            <a:avLst/>
          </a:prstGeom>
        </p:spPr>
        <p:txBody>
          <a:bodyPr vert="horz" anchor="ctr" anchorCtr="0"/>
          <a:lstStyle>
            <a:lvl1pPr algn="r" eaLnBrk="1" latinLnBrk="0" hangingPunct="1">
              <a:defRPr kumimoji="0" sz="12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4"/>
          </p:nvPr>
        </p:nvSpPr>
        <p:spPr>
          <a:xfrm>
            <a:off x="8410575" y="6181531"/>
            <a:ext cx="609600" cy="457200"/>
          </a:xfrm>
          <a:prstGeom prst="rect">
            <a:avLst/>
          </a:prstGeom>
          <a:noFill/>
        </p:spPr>
        <p:txBody>
          <a:bodyPr vert="horz" lIns="0" tIns="0" rIns="0" bIns="0" anchor="ctr" anchorCtr="0">
            <a:noAutofit/>
          </a:bodyPr>
          <a:lstStyle>
            <a:lvl1pPr algn="ctr" eaLnBrk="1" latinLnBrk="0" hangingPunct="1">
              <a:defRPr kumimoji="0" sz="1600" baseline="0">
                <a:solidFill>
                  <a:schemeClr val="tx2"/>
                </a:solidFill>
              </a:defRPr>
            </a:lvl1pPr>
          </a:lstStyle>
          <a:p>
            <a:fld id="{F80996C0-72B3-41EA-8C61-45746BCF72C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Placeholder 4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1219200"/>
          </a:xfrm>
          <a:prstGeom prst="rect">
            <a:avLst/>
          </a:prstGeom>
          <a:ln w="6350" cap="rnd">
            <a:noFill/>
          </a:ln>
        </p:spPr>
        <p:txBody>
          <a:bodyPr vert="horz" anchor="b" anchorCtr="0">
            <a:normAutofit/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rtl="0" eaLnBrk="1" latinLnBrk="0" hangingPunct="1">
        <a:spcBef>
          <a:spcPct val="0"/>
        </a:spcBef>
        <a:buNone/>
        <a:defRPr kumimoji="0" lang="en-US" sz="4200" b="0" kern="1200" spc="-100" baseline="0" dirty="0">
          <a:ln w="3200">
            <a:solidFill>
              <a:schemeClr val="bg2">
                <a:shade val="75000"/>
                <a:alpha val="25000"/>
              </a:schemeClr>
            </a:solidFill>
            <a:prstDash val="solid"/>
            <a:round/>
          </a:ln>
          <a:solidFill>
            <a:srgbClr val="F9F9F9"/>
          </a:solidFill>
          <a:effectLst>
            <a:innerShdw blurRad="50800" dist="25400" dir="13500000">
              <a:prstClr val="black">
                <a:alpha val="70000"/>
              </a:prstClr>
            </a:innerShdw>
          </a:effectLst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2"/>
        </a:buClr>
        <a:buSzPct val="8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74320" algn="l" rtl="0" eaLnBrk="1" latinLnBrk="0" hangingPunct="1">
        <a:spcBef>
          <a:spcPts val="300"/>
        </a:spcBef>
        <a:buClr>
          <a:schemeClr val="accent2">
            <a:shade val="75000"/>
          </a:schemeClr>
        </a:buClr>
        <a:buSzPct val="85000"/>
        <a:buFont typeface="Wingdings 2"/>
        <a:buChar char=""/>
        <a:defRPr kumimoji="0"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005840" indent="-228600" algn="l" rtl="0" eaLnBrk="1" latinLnBrk="0" hangingPunct="1">
        <a:spcBef>
          <a:spcPts val="300"/>
        </a:spcBef>
        <a:buClr>
          <a:schemeClr val="accent2">
            <a:shade val="50000"/>
          </a:schemeClr>
        </a:buClr>
        <a:buSzPct val="85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rtl="0" eaLnBrk="1" latinLnBrk="0" hangingPunct="1">
        <a:spcBef>
          <a:spcPts val="300"/>
        </a:spcBef>
        <a:buClr>
          <a:schemeClr val="accent2">
            <a:shade val="75000"/>
          </a:schemeClr>
        </a:buClr>
        <a:buSzPct val="85000"/>
        <a:buFont typeface="Wingdings 2" pitchFamily="18" charset="2"/>
        <a:buChar char="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rtl="0" eaLnBrk="1" latinLnBrk="0" hangingPunct="1">
        <a:spcBef>
          <a:spcPts val="340"/>
        </a:spcBef>
        <a:buClr>
          <a:schemeClr val="accent2">
            <a:shade val="75000"/>
          </a:schemeClr>
        </a:buClr>
        <a:buSzPct val="85000"/>
        <a:buFont typeface="Wingdings 2" pitchFamily="18" charset="2"/>
        <a:buChar char="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800" indent="-228600" algn="l" rtl="0" eaLnBrk="1" latinLnBrk="0" hangingPunct="1">
        <a:spcBef>
          <a:spcPts val="340"/>
        </a:spcBef>
        <a:buClr>
          <a:schemeClr val="accent2">
            <a:shade val="75000"/>
          </a:schemeClr>
        </a:buClr>
        <a:buSzPct val="85000"/>
        <a:buFont typeface="Wingdings 2" pitchFamily="18" charset="2"/>
        <a:buChar char="?"/>
        <a:defRPr kumimoji="0"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011680" indent="-182880" algn="l" rtl="0" eaLnBrk="1" latinLnBrk="0" hangingPunct="1">
        <a:spcBef>
          <a:spcPts val="340"/>
        </a:spcBef>
        <a:buClr>
          <a:schemeClr val="accent2">
            <a:shade val="75000"/>
          </a:schemeClr>
        </a:buClr>
        <a:buSzPct val="85000"/>
        <a:buFont typeface="Wingdings 2" pitchFamily="18" charset="2"/>
        <a:buChar char="?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286000" indent="-182880" algn="l" rtl="0" eaLnBrk="1" latinLnBrk="0" hangingPunct="1">
        <a:spcBef>
          <a:spcPts val="340"/>
        </a:spcBef>
        <a:buClr>
          <a:schemeClr val="accent2">
            <a:shade val="75000"/>
          </a:schemeClr>
        </a:buClr>
        <a:buSzPct val="85000"/>
        <a:buFont typeface="Wingdings 2" pitchFamily="18" charset="2"/>
        <a:buChar char="?"/>
        <a:defRPr kumimoji="0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560320" indent="-182880" algn="l" rtl="0" eaLnBrk="1" latinLnBrk="0" hangingPunct="1">
        <a:spcBef>
          <a:spcPts val="340"/>
        </a:spcBef>
        <a:buClr>
          <a:schemeClr val="accent2">
            <a:shade val="75000"/>
          </a:schemeClr>
        </a:buClr>
        <a:buSzPct val="85000"/>
        <a:buFont typeface="Wingdings 2" pitchFamily="18" charset="2"/>
        <a:buChar char="?"/>
        <a:defRPr kumimoji="0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81000" y="685800"/>
            <a:ext cx="11734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/>
              <a:t>IMPLEMENTATION OF STACK USING LINKED LIST</a:t>
            </a:r>
            <a:endParaRPr lang="en-US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2514600" y="1676400"/>
            <a:ext cx="541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/>
              <a:t>Subject : Data Structure</a:t>
            </a:r>
            <a:endParaRPr lang="en-US" sz="2800" b="1" dirty="0"/>
          </a:p>
        </p:txBody>
      </p:sp>
      <p:sp>
        <p:nvSpPr>
          <p:cNvPr id="6" name="TextBox 5"/>
          <p:cNvSpPr txBox="1"/>
          <p:nvPr/>
        </p:nvSpPr>
        <p:spPr>
          <a:xfrm>
            <a:off x="1524000" y="3886200"/>
            <a:ext cx="685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Presented by : </a:t>
            </a:r>
            <a:r>
              <a:rPr lang="en-US" sz="2400" b="1" u="sng" dirty="0" smtClean="0"/>
              <a:t>Darshan Gohil, Hardik Maru</a:t>
            </a:r>
            <a:endParaRPr lang="en-US" sz="2400" b="1" u="sng" dirty="0"/>
          </a:p>
        </p:txBody>
      </p:sp>
      <p:sp>
        <p:nvSpPr>
          <p:cNvPr id="7" name="TextBox 6"/>
          <p:cNvSpPr txBox="1"/>
          <p:nvPr/>
        </p:nvSpPr>
        <p:spPr>
          <a:xfrm>
            <a:off x="2057400" y="4800600"/>
            <a:ext cx="6172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/>
              <a:t>Topic : Stack Using Linked List</a:t>
            </a:r>
            <a:endParaRPr lang="en-US" sz="2800" b="1" dirty="0"/>
          </a:p>
        </p:txBody>
      </p:sp>
      <p:sp>
        <p:nvSpPr>
          <p:cNvPr id="8" name="TextBox 7"/>
          <p:cNvSpPr txBox="1"/>
          <p:nvPr/>
        </p:nvSpPr>
        <p:spPr>
          <a:xfrm>
            <a:off x="2743200" y="2514600"/>
            <a:ext cx="533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Teach By : </a:t>
            </a:r>
            <a:r>
              <a:rPr lang="en-US" sz="2400" b="1" u="sng" dirty="0" smtClean="0"/>
              <a:t>Ruchita Shah</a:t>
            </a:r>
            <a:endParaRPr lang="en-US" sz="2400" b="1" u="sng" dirty="0"/>
          </a:p>
        </p:txBody>
      </p:sp>
    </p:spTree>
  </p:cSld>
  <p:clrMapOvr>
    <a:masterClrMapping/>
  </p:clrMapOvr>
  <p:transition>
    <p:dissolv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19400" y="533400"/>
            <a:ext cx="5029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smtClean="0"/>
              <a:t>What Is Stack?</a:t>
            </a:r>
            <a:endParaRPr lang="en-US" sz="4000" b="1" dirty="0"/>
          </a:p>
        </p:txBody>
      </p:sp>
      <p:sp>
        <p:nvSpPr>
          <p:cNvPr id="6" name="TextBox 5"/>
          <p:cNvSpPr txBox="1"/>
          <p:nvPr/>
        </p:nvSpPr>
        <p:spPr>
          <a:xfrm>
            <a:off x="762000" y="1295400"/>
            <a:ext cx="7696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Stack is a </a:t>
            </a:r>
            <a:r>
              <a:rPr lang="en-US" sz="2400" u="sng" dirty="0" smtClean="0"/>
              <a:t>linear data structure </a:t>
            </a:r>
            <a:r>
              <a:rPr lang="en-US" sz="2400" dirty="0" smtClean="0"/>
              <a:t> that follows : LIFO – Last In First Out</a:t>
            </a:r>
            <a:r>
              <a:rPr lang="en-US" sz="2400" u="sng" dirty="0" smtClean="0"/>
              <a:t> </a:t>
            </a:r>
            <a:endParaRPr lang="en-US" sz="2400" u="sng" dirty="0"/>
          </a:p>
        </p:txBody>
      </p:sp>
      <p:sp>
        <p:nvSpPr>
          <p:cNvPr id="7" name="Rectangle 6"/>
          <p:cNvSpPr/>
          <p:nvPr/>
        </p:nvSpPr>
        <p:spPr>
          <a:xfrm>
            <a:off x="3048000" y="2514600"/>
            <a:ext cx="3429000" cy="6858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smtClean="0"/>
              <a:t>30</a:t>
            </a:r>
            <a:endParaRPr lang="en-US" sz="2800" b="1" dirty="0"/>
          </a:p>
        </p:txBody>
      </p:sp>
      <p:sp>
        <p:nvSpPr>
          <p:cNvPr id="8" name="Rectangle 7"/>
          <p:cNvSpPr/>
          <p:nvPr/>
        </p:nvSpPr>
        <p:spPr>
          <a:xfrm>
            <a:off x="3124200" y="3733800"/>
            <a:ext cx="3352800" cy="6858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smtClean="0"/>
              <a:t>20</a:t>
            </a:r>
            <a:endParaRPr lang="en-US" sz="2800" b="1" dirty="0"/>
          </a:p>
        </p:txBody>
      </p:sp>
      <p:sp>
        <p:nvSpPr>
          <p:cNvPr id="9" name="Rectangle 8"/>
          <p:cNvSpPr/>
          <p:nvPr/>
        </p:nvSpPr>
        <p:spPr>
          <a:xfrm>
            <a:off x="3124200" y="4876800"/>
            <a:ext cx="3429000" cy="609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smtClean="0"/>
              <a:t>10</a:t>
            </a:r>
            <a:endParaRPr lang="en-US" sz="2800" b="1" dirty="0"/>
          </a:p>
        </p:txBody>
      </p:sp>
      <p:cxnSp>
        <p:nvCxnSpPr>
          <p:cNvPr id="13" name="Straight Arrow Connector 12"/>
          <p:cNvCxnSpPr>
            <a:endCxn id="7" idx="2"/>
          </p:cNvCxnSpPr>
          <p:nvPr/>
        </p:nvCxnSpPr>
        <p:spPr>
          <a:xfrm rot="16200000" flipV="1">
            <a:off x="4362450" y="3600450"/>
            <a:ext cx="1143000" cy="3429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rot="5400000" flipH="1" flipV="1">
            <a:off x="4286250" y="4933950"/>
            <a:ext cx="1066800" cy="381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781800" y="2667000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TOP</a:t>
            </a:r>
            <a:endParaRPr lang="en-US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828800" y="457200"/>
            <a:ext cx="731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smtClean="0"/>
              <a:t>Stack Use In Real World</a:t>
            </a:r>
            <a:endParaRPr lang="en-US" sz="40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2133600" y="1219200"/>
            <a:ext cx="7924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The Plate Placed Last Is Removed First</a:t>
            </a:r>
            <a:endParaRPr lang="en-US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1828800" y="1752600"/>
            <a:ext cx="7543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/>
              <a:t>Basic Operations  Of Stack</a:t>
            </a:r>
            <a:endParaRPr lang="en-US" sz="4000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2819400"/>
          <a:ext cx="7391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5700"/>
                <a:gridCol w="3695700"/>
              </a:tblGrid>
              <a:tr h="640080">
                <a:tc>
                  <a:txBody>
                    <a:bodyPr/>
                    <a:lstStyle/>
                    <a:p>
                      <a:pPr algn="just"/>
                      <a:r>
                        <a:rPr lang="en-US" dirty="0" smtClean="0"/>
                        <a:t>                     </a:t>
                      </a:r>
                      <a:r>
                        <a:rPr lang="en-US" sz="2400" dirty="0" smtClean="0"/>
                        <a:t>Operation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                  </a:t>
                      </a:r>
                      <a:r>
                        <a:rPr lang="en-US" sz="2400" dirty="0" smtClean="0"/>
                        <a:t>Meaning</a:t>
                      </a:r>
                      <a:endParaRPr lang="en-US" dirty="0"/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Push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Insert an Element</a:t>
                      </a:r>
                      <a:endParaRPr lang="en-US" sz="2400" dirty="0"/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Pop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smtClean="0"/>
                        <a:t>Delete an Element</a:t>
                      </a:r>
                    </a:p>
                    <a:p>
                      <a:endParaRPr lang="en-US" dirty="0"/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Peek / Top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smtClean="0"/>
                        <a:t>View Top Element</a:t>
                      </a:r>
                    </a:p>
                    <a:p>
                      <a:endParaRPr lang="en-US" dirty="0"/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Display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smtClean="0"/>
                        <a:t>Show all Elements</a:t>
                      </a:r>
                    </a:p>
                    <a:p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09600" y="533400"/>
            <a:ext cx="807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smtClean="0"/>
              <a:t>Why Implement Stack Using Linked List?</a:t>
            </a:r>
            <a:endParaRPr lang="en-US" sz="3200" b="1" dirty="0"/>
          </a:p>
        </p:txBody>
      </p:sp>
      <p:sp>
        <p:nvSpPr>
          <p:cNvPr id="5" name="5-Point Star 4"/>
          <p:cNvSpPr/>
          <p:nvPr/>
        </p:nvSpPr>
        <p:spPr>
          <a:xfrm>
            <a:off x="609600" y="1295400"/>
            <a:ext cx="533400" cy="533400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95400" y="1371600"/>
            <a:ext cx="7010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/>
              <a:t>Stack Implement In Two Ways</a:t>
            </a:r>
            <a:endParaRPr lang="en-US" sz="2000" b="1" dirty="0"/>
          </a:p>
        </p:txBody>
      </p:sp>
      <p:sp>
        <p:nvSpPr>
          <p:cNvPr id="7" name="Rectangle 6"/>
          <p:cNvSpPr/>
          <p:nvPr/>
        </p:nvSpPr>
        <p:spPr>
          <a:xfrm>
            <a:off x="3657600" y="1905000"/>
            <a:ext cx="1905000" cy="762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Stack</a:t>
            </a:r>
            <a:endParaRPr lang="en-US" sz="2400" b="1" dirty="0"/>
          </a:p>
        </p:txBody>
      </p:sp>
      <p:cxnSp>
        <p:nvCxnSpPr>
          <p:cNvPr id="9" name="Straight Arrow Connector 8"/>
          <p:cNvCxnSpPr/>
          <p:nvPr/>
        </p:nvCxnSpPr>
        <p:spPr>
          <a:xfrm rot="16200000" flipH="1">
            <a:off x="4438650" y="2838450"/>
            <a:ext cx="381000" cy="381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990600" y="3048000"/>
            <a:ext cx="7086600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rot="5400000">
            <a:off x="7849394" y="3276600"/>
            <a:ext cx="457200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rot="5400000">
            <a:off x="762000" y="3275806"/>
            <a:ext cx="457200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57200" y="3505200"/>
            <a:ext cx="1752600" cy="8382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Array</a:t>
            </a:r>
            <a:endParaRPr lang="en-US" dirty="0"/>
          </a:p>
        </p:txBody>
      </p:sp>
      <p:sp>
        <p:nvSpPr>
          <p:cNvPr id="17" name="Rectangle 16"/>
          <p:cNvSpPr/>
          <p:nvPr/>
        </p:nvSpPr>
        <p:spPr>
          <a:xfrm>
            <a:off x="7010400" y="3505200"/>
            <a:ext cx="1828800" cy="8382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Linked List</a:t>
            </a:r>
            <a:endParaRPr lang="en-US" dirty="0"/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304800" y="457200"/>
            <a:ext cx="3200400" cy="68580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Array</a:t>
            </a:r>
            <a:endParaRPr lang="en-US" sz="2400" b="1" dirty="0"/>
          </a:p>
        </p:txBody>
      </p:sp>
      <p:sp>
        <p:nvSpPr>
          <p:cNvPr id="5" name="5-Point Star 4"/>
          <p:cNvSpPr/>
          <p:nvPr/>
        </p:nvSpPr>
        <p:spPr>
          <a:xfrm>
            <a:off x="533400" y="1524000"/>
            <a:ext cx="457200" cy="457200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143000" y="1524000"/>
            <a:ext cx="7467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Fixed Memory Size</a:t>
            </a:r>
            <a:endParaRPr lang="en-US" sz="2400" dirty="0"/>
          </a:p>
        </p:txBody>
      </p:sp>
      <p:sp>
        <p:nvSpPr>
          <p:cNvPr id="7" name="5-Point Star 6"/>
          <p:cNvSpPr/>
          <p:nvPr/>
        </p:nvSpPr>
        <p:spPr>
          <a:xfrm>
            <a:off x="533400" y="2133600"/>
            <a:ext cx="457200" cy="457200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143000" y="2209800"/>
            <a:ext cx="4800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Memory Wastage If Not Use</a:t>
            </a:r>
            <a:endParaRPr lang="en-US" sz="2400" dirty="0"/>
          </a:p>
        </p:txBody>
      </p:sp>
      <p:sp>
        <p:nvSpPr>
          <p:cNvPr id="9" name="Rounded Rectangle 8"/>
          <p:cNvSpPr/>
          <p:nvPr/>
        </p:nvSpPr>
        <p:spPr>
          <a:xfrm>
            <a:off x="381000" y="3124200"/>
            <a:ext cx="3200400" cy="68580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Linked List</a:t>
            </a:r>
            <a:endParaRPr lang="en-US" sz="2400" b="1" dirty="0"/>
          </a:p>
        </p:txBody>
      </p:sp>
      <p:sp>
        <p:nvSpPr>
          <p:cNvPr id="10" name="5-Point Star 9"/>
          <p:cNvSpPr/>
          <p:nvPr/>
        </p:nvSpPr>
        <p:spPr>
          <a:xfrm>
            <a:off x="609600" y="4191000"/>
            <a:ext cx="457200" cy="457200"/>
          </a:xfrm>
          <a:prstGeom prst="star5">
            <a:avLst>
              <a:gd name="adj" fmla="val 21064"/>
              <a:gd name="hf" fmla="val 105146"/>
              <a:gd name="vf" fmla="val 11055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295400" y="4267200"/>
            <a:ext cx="5105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Dynamic Memory Size</a:t>
            </a:r>
            <a:endParaRPr lang="en-US" sz="2400" dirty="0"/>
          </a:p>
        </p:txBody>
      </p:sp>
      <p:sp>
        <p:nvSpPr>
          <p:cNvPr id="12" name="5-Point Star 11"/>
          <p:cNvSpPr/>
          <p:nvPr/>
        </p:nvSpPr>
        <p:spPr>
          <a:xfrm>
            <a:off x="609600" y="4953000"/>
            <a:ext cx="457200" cy="457200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295400" y="4953000"/>
            <a:ext cx="472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Memory Used As Required</a:t>
            </a:r>
            <a:endParaRPr lang="en-US" sz="2400" dirty="0"/>
          </a:p>
        </p:txBody>
      </p:sp>
    </p:spTree>
  </p:cSld>
  <p:clrMapOvr>
    <a:masterClrMapping/>
  </p:clrMapOvr>
  <p:transition>
    <p:cut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09600" y="533400"/>
            <a:ext cx="7848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Stack Using Linked List</a:t>
            </a:r>
            <a:endParaRPr lang="en-US" sz="3600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447800" y="1447800"/>
          <a:ext cx="6096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DATA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NEXT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2133600"/>
            <a:ext cx="4800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Example</a:t>
            </a:r>
            <a:endParaRPr lang="en-US" sz="2400" dirty="0"/>
          </a:p>
        </p:txBody>
      </p:sp>
      <p:sp>
        <p:nvSpPr>
          <p:cNvPr id="9" name="Rectangle 8"/>
          <p:cNvSpPr/>
          <p:nvPr/>
        </p:nvSpPr>
        <p:spPr>
          <a:xfrm>
            <a:off x="1600200" y="2971800"/>
            <a:ext cx="3048000" cy="609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/>
              <a:t>30</a:t>
            </a:r>
            <a:endParaRPr lang="en-US" sz="2400" dirty="0"/>
          </a:p>
        </p:txBody>
      </p:sp>
      <p:sp>
        <p:nvSpPr>
          <p:cNvPr id="10" name="Rectangle 9"/>
          <p:cNvSpPr/>
          <p:nvPr/>
        </p:nvSpPr>
        <p:spPr>
          <a:xfrm>
            <a:off x="4648200" y="2971800"/>
            <a:ext cx="2895600" cy="6096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 smtClean="0"/>
              <a:t>200</a:t>
            </a:r>
            <a:endParaRPr lang="en-US" sz="2400" dirty="0"/>
          </a:p>
        </p:txBody>
      </p:sp>
      <p:sp>
        <p:nvSpPr>
          <p:cNvPr id="11" name="Rectangle 10"/>
          <p:cNvSpPr/>
          <p:nvPr/>
        </p:nvSpPr>
        <p:spPr>
          <a:xfrm>
            <a:off x="4648200" y="4038600"/>
            <a:ext cx="2895600" cy="6096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1</a:t>
            </a:r>
            <a:r>
              <a:rPr lang="en-US" sz="2400" dirty="0" smtClean="0"/>
              <a:t>00</a:t>
            </a:r>
            <a:endParaRPr lang="en-US" sz="2400" dirty="0"/>
          </a:p>
        </p:txBody>
      </p:sp>
      <p:sp>
        <p:nvSpPr>
          <p:cNvPr id="12" name="Rectangle 11"/>
          <p:cNvSpPr/>
          <p:nvPr/>
        </p:nvSpPr>
        <p:spPr>
          <a:xfrm>
            <a:off x="1600200" y="4038600"/>
            <a:ext cx="3048000" cy="609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20</a:t>
            </a:r>
          </a:p>
          <a:p>
            <a:pPr algn="ctr"/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600200" y="5257800"/>
            <a:ext cx="3048000" cy="609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10</a:t>
            </a:r>
            <a:endParaRPr lang="en-US" sz="2400" b="1" dirty="0"/>
          </a:p>
        </p:txBody>
      </p:sp>
      <p:sp>
        <p:nvSpPr>
          <p:cNvPr id="14" name="Rectangle 13"/>
          <p:cNvSpPr/>
          <p:nvPr/>
        </p:nvSpPr>
        <p:spPr>
          <a:xfrm>
            <a:off x="4648200" y="5257800"/>
            <a:ext cx="2895600" cy="6096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 smtClean="0"/>
              <a:t>NULL</a:t>
            </a:r>
            <a:endParaRPr lang="en-US" sz="2000" dirty="0"/>
          </a:p>
        </p:txBody>
      </p:sp>
      <p:sp>
        <p:nvSpPr>
          <p:cNvPr id="15" name="TextBox 14"/>
          <p:cNvSpPr txBox="1"/>
          <p:nvPr/>
        </p:nvSpPr>
        <p:spPr>
          <a:xfrm>
            <a:off x="4419600" y="3581400"/>
            <a:ext cx="236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/>
              <a:t>300</a:t>
            </a:r>
            <a:endParaRPr lang="en-US" sz="2000" dirty="0"/>
          </a:p>
        </p:txBody>
      </p:sp>
      <p:sp>
        <p:nvSpPr>
          <p:cNvPr id="16" name="TextBox 15"/>
          <p:cNvSpPr txBox="1"/>
          <p:nvPr/>
        </p:nvSpPr>
        <p:spPr>
          <a:xfrm>
            <a:off x="4343400" y="4724400"/>
            <a:ext cx="1371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/>
              <a:t>200</a:t>
            </a:r>
            <a:endParaRPr lang="en-US" sz="2000" dirty="0"/>
          </a:p>
        </p:txBody>
      </p:sp>
      <p:sp>
        <p:nvSpPr>
          <p:cNvPr id="17" name="TextBox 16"/>
          <p:cNvSpPr txBox="1"/>
          <p:nvPr/>
        </p:nvSpPr>
        <p:spPr>
          <a:xfrm>
            <a:off x="4419600" y="5943600"/>
            <a:ext cx="1600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1</a:t>
            </a:r>
            <a:r>
              <a:rPr lang="en-US" sz="2000" dirty="0" smtClean="0"/>
              <a:t>00</a:t>
            </a:r>
            <a:endParaRPr lang="en-US" sz="2000" dirty="0"/>
          </a:p>
        </p:txBody>
      </p:sp>
    </p:spTree>
  </p:cSld>
  <p:clrMapOvr>
    <a:masterClrMapping/>
  </p:clrMapOvr>
  <p:transition>
    <p:wipe dir="d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057400" y="533400"/>
            <a:ext cx="5410200" cy="1143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smtClean="0">
                <a:latin typeface="Agent Orange" pitchFamily="2" charset="0"/>
                <a:cs typeface="Agent Orange" pitchFamily="2" charset="0"/>
              </a:rPr>
              <a:t>PUSH ALGORITHM</a:t>
            </a:r>
            <a:endParaRPr lang="en-US" sz="2800" b="1" dirty="0">
              <a:latin typeface="Agent Orange" pitchFamily="2" charset="0"/>
              <a:cs typeface="Agent Orange" pitchFamily="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62200" y="1828800"/>
            <a:ext cx="617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Suppose Stack : TOP -&gt; 30  -&gt;  20 -&gt; 10 -&gt; NULL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438400" y="2286000"/>
            <a:ext cx="693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Push(40) : TOP -&gt; 40 -&gt; 30 -&gt; 20 -&gt; 10 -&gt; NULL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1981200" y="2971800"/>
            <a:ext cx="77724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+mj-lt"/>
              <a:buAutoNum type="arabicPeriod"/>
            </a:pPr>
            <a:r>
              <a:rPr lang="en-US" sz="2800" dirty="0" smtClean="0"/>
              <a:t>CREATE A New Node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2800" dirty="0" smtClean="0"/>
              <a:t>Store Data In New Node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2800" dirty="0" smtClean="0"/>
              <a:t>Set NewNode-&gt;NEXT = TOP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2800" dirty="0" smtClean="0"/>
              <a:t>Set Top = NewNode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2800" dirty="0" smtClean="0"/>
              <a:t>STOP </a:t>
            </a:r>
          </a:p>
        </p:txBody>
      </p:sp>
    </p:spTree>
  </p:cSld>
  <p:clrMapOvr>
    <a:masterClrMapping/>
  </p:clrMapOvr>
  <p:transition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057400" y="533400"/>
            <a:ext cx="5410200" cy="1143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smtClean="0">
                <a:latin typeface="Agent Orange" pitchFamily="2" charset="0"/>
                <a:cs typeface="Agent Orange" pitchFamily="2" charset="0"/>
              </a:rPr>
              <a:t>pop ALGORITHM</a:t>
            </a:r>
            <a:endParaRPr lang="en-US" sz="2800" b="1" dirty="0">
              <a:latin typeface="Agent Orange" pitchFamily="2" charset="0"/>
              <a:cs typeface="Agent Orange" pitchFamily="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62200" y="1828800"/>
            <a:ext cx="617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Before : TOP -&gt; 40 -&gt; 30  -&gt;  20 -&gt; 10 -&gt; NULL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438400" y="2286000"/>
            <a:ext cx="6934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Pop : TOP -&gt; 30 -&gt; 20 -&gt; 10 -&gt; NULL</a:t>
            </a:r>
          </a:p>
          <a:p>
            <a:r>
              <a:rPr lang="en-US" dirty="0" smtClean="0"/>
              <a:t>40 is removed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209800" y="2887682"/>
            <a:ext cx="7772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800" dirty="0" smtClean="0"/>
              <a:t>Check Whether Top Is NULL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800" dirty="0" smtClean="0"/>
              <a:t>IF TOP = NULL -&gt; Stack Underflow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800" dirty="0" smtClean="0"/>
              <a:t>Store TOP in Temporary Pointer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800" dirty="0" smtClean="0"/>
              <a:t>Move TOP To TOP-&gt;NEXT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800" dirty="0" smtClean="0"/>
              <a:t>DELETE / FREE Temporary Node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800" dirty="0" smtClean="0"/>
              <a:t>STOP </a:t>
            </a:r>
          </a:p>
        </p:txBody>
      </p:sp>
    </p:spTree>
  </p:cSld>
  <p:clrMapOvr>
    <a:masterClrMapping/>
  </p:clrMapOvr>
  <p:transition>
    <p:wipe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33400" y="533400"/>
            <a:ext cx="8305800" cy="1143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smtClean="0">
                <a:latin typeface="Agent Orange" pitchFamily="2" charset="0"/>
                <a:cs typeface="Agent Orange" pitchFamily="2" charset="0"/>
              </a:rPr>
              <a:t>PEEP / PEAK ALGORITHM</a:t>
            </a:r>
            <a:endParaRPr lang="en-US" sz="2800" b="1" dirty="0">
              <a:latin typeface="Agent Orange" pitchFamily="2" charset="0"/>
              <a:cs typeface="Agent Orange" pitchFamily="2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676400" y="2133600"/>
            <a:ext cx="6934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/>
              <a:t>Show The Top Most Element Of Stack Without Deleting</a:t>
            </a:r>
            <a:endParaRPr lang="en-US" sz="2000" dirty="0"/>
          </a:p>
        </p:txBody>
      </p:sp>
      <p:sp>
        <p:nvSpPr>
          <p:cNvPr id="8" name="TextBox 7"/>
          <p:cNvSpPr txBox="1"/>
          <p:nvPr/>
        </p:nvSpPr>
        <p:spPr>
          <a:xfrm>
            <a:off x="1752600" y="2667000"/>
            <a:ext cx="7772400" cy="391305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 smtClean="0"/>
              <a:t>START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 smtClean="0"/>
              <a:t>IF TOP = NULL Then</a:t>
            </a:r>
          </a:p>
          <a:p>
            <a:pPr marL="342900" indent="-342900" algn="just">
              <a:lnSpc>
                <a:spcPct val="150000"/>
              </a:lnSpc>
            </a:pPr>
            <a:r>
              <a:rPr lang="en-US" sz="2400" dirty="0" smtClean="0"/>
              <a:t>	Print(‘Stack Empty’)</a:t>
            </a:r>
          </a:p>
          <a:p>
            <a:pPr marL="342900" indent="-342900" algn="just">
              <a:lnSpc>
                <a:spcPct val="150000"/>
              </a:lnSpc>
            </a:pPr>
            <a:r>
              <a:rPr lang="en-US" sz="2400" dirty="0"/>
              <a:t>	</a:t>
            </a:r>
            <a:r>
              <a:rPr lang="en-US" sz="2400" dirty="0" smtClean="0"/>
              <a:t>GO TO STEP 5</a:t>
            </a:r>
          </a:p>
          <a:p>
            <a:pPr marL="342900" indent="-342900" algn="just">
              <a:lnSpc>
                <a:spcPct val="150000"/>
              </a:lnSpc>
            </a:pPr>
            <a:r>
              <a:rPr lang="en-US" sz="2400" dirty="0" smtClean="0"/>
              <a:t>3. Print TOP-&gt;DATA</a:t>
            </a:r>
          </a:p>
          <a:p>
            <a:pPr marL="514350" indent="-514350" algn="just">
              <a:lnSpc>
                <a:spcPct val="150000"/>
              </a:lnSpc>
            </a:pPr>
            <a:r>
              <a:rPr lang="en-US" sz="2400" dirty="0"/>
              <a:t>4</a:t>
            </a:r>
            <a:r>
              <a:rPr lang="en-US" sz="2400" dirty="0" smtClean="0"/>
              <a:t>. RETURN</a:t>
            </a:r>
          </a:p>
          <a:p>
            <a:pPr marL="342900" indent="-342900" algn="just">
              <a:lnSpc>
                <a:spcPct val="150000"/>
              </a:lnSpc>
            </a:pPr>
            <a:r>
              <a:rPr lang="en-US" sz="2400" dirty="0" smtClean="0"/>
              <a:t>5. STOP </a:t>
            </a:r>
          </a:p>
        </p:txBody>
      </p:sp>
    </p:spTree>
  </p:cSld>
  <p:clrMapOvr>
    <a:masterClrMapping/>
  </p:clrMapOvr>
  <p:transition>
    <p:wipe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600200" y="533400"/>
            <a:ext cx="6096000" cy="1143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smtClean="0">
                <a:latin typeface="Agent Orange" pitchFamily="2" charset="0"/>
                <a:cs typeface="Agent Orange" pitchFamily="2" charset="0"/>
              </a:rPr>
              <a:t>Display ALGORITHM</a:t>
            </a:r>
            <a:endParaRPr lang="en-US" sz="2800" b="1" dirty="0">
              <a:latin typeface="Agent Orange" pitchFamily="2" charset="0"/>
              <a:cs typeface="Agent Orange" pitchFamily="2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676400" y="2133600"/>
            <a:ext cx="6934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/>
              <a:t>Show The Data Of Stack In LIFO Style</a:t>
            </a:r>
            <a:endParaRPr lang="en-US" sz="2000" dirty="0"/>
          </a:p>
        </p:txBody>
      </p:sp>
      <p:sp>
        <p:nvSpPr>
          <p:cNvPr id="8" name="TextBox 7"/>
          <p:cNvSpPr txBox="1"/>
          <p:nvPr/>
        </p:nvSpPr>
        <p:spPr>
          <a:xfrm>
            <a:off x="1752600" y="2667000"/>
            <a:ext cx="7772400" cy="378565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 algn="just">
              <a:buFont typeface="+mj-lt"/>
              <a:buAutoNum type="arabicPeriod"/>
            </a:pPr>
            <a:r>
              <a:rPr lang="en-US" sz="2400" dirty="0" smtClean="0"/>
              <a:t>START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2400" dirty="0" smtClean="0"/>
              <a:t>IF TOP = NULL Then</a:t>
            </a:r>
          </a:p>
          <a:p>
            <a:pPr marL="342900" indent="-342900" algn="just"/>
            <a:r>
              <a:rPr lang="en-US" sz="2400" dirty="0" smtClean="0"/>
              <a:t>	Print(‘Stack Empty’)</a:t>
            </a:r>
          </a:p>
          <a:p>
            <a:pPr marL="342900" indent="-342900" algn="just"/>
            <a:r>
              <a:rPr lang="en-US" sz="2400" dirty="0"/>
              <a:t>	</a:t>
            </a:r>
            <a:r>
              <a:rPr lang="en-US" sz="2400" dirty="0" smtClean="0"/>
              <a:t>GO TO STEP </a:t>
            </a:r>
            <a:r>
              <a:rPr lang="en-US" sz="2400" dirty="0"/>
              <a:t>6</a:t>
            </a:r>
            <a:endParaRPr lang="en-US" sz="2400" dirty="0" smtClean="0"/>
          </a:p>
          <a:p>
            <a:pPr marL="342900" indent="-342900" algn="just"/>
            <a:r>
              <a:rPr lang="en-US" sz="2400" dirty="0" smtClean="0"/>
              <a:t>3. Set TEMP = TOP </a:t>
            </a:r>
          </a:p>
          <a:p>
            <a:pPr marL="514350" indent="-514350" algn="just"/>
            <a:r>
              <a:rPr lang="en-US" sz="2400" dirty="0" smtClean="0"/>
              <a:t>4. Repeat WHILE Temp != NULL</a:t>
            </a:r>
          </a:p>
          <a:p>
            <a:pPr marL="514350" indent="-514350" algn="just"/>
            <a:r>
              <a:rPr lang="en-US" sz="2400" dirty="0" smtClean="0"/>
              <a:t>    Print TEMP-&gt;DATA</a:t>
            </a:r>
          </a:p>
          <a:p>
            <a:pPr marL="514350" indent="-514350" algn="just"/>
            <a:r>
              <a:rPr lang="en-US" sz="2400" dirty="0" smtClean="0"/>
              <a:t>    TEMP = TEMP-&gt;NEXT</a:t>
            </a:r>
          </a:p>
          <a:p>
            <a:pPr marL="514350" indent="-514350" algn="just"/>
            <a:r>
              <a:rPr lang="en-US" sz="2400" dirty="0" smtClean="0"/>
              <a:t>5. RETURN</a:t>
            </a:r>
          </a:p>
          <a:p>
            <a:pPr marL="342900" indent="-342900" algn="just"/>
            <a:r>
              <a:rPr lang="en-US" sz="2400" dirty="0"/>
              <a:t>6</a:t>
            </a:r>
            <a:r>
              <a:rPr lang="en-US" sz="2400" dirty="0" smtClean="0"/>
              <a:t>. STOP </a:t>
            </a:r>
          </a:p>
        </p:txBody>
      </p:sp>
    </p:spTree>
  </p:cSld>
  <p:clrMapOvr>
    <a:masterClrMapping/>
  </p:clrMapOvr>
  <p:transition>
    <p:wedg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0" y="533400"/>
            <a:ext cx="9372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 smtClean="0">
                <a:latin typeface="Algerian" pitchFamily="82" charset="0"/>
              </a:rPr>
              <a:t>Advantages Of Stack Using Linked List</a:t>
            </a:r>
            <a:endParaRPr lang="en-US" sz="3200" dirty="0">
              <a:latin typeface="Algerian" pitchFamily="8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77724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buFont typeface="Arial" pitchFamily="34" charset="0"/>
              <a:buChar char="•"/>
            </a:pPr>
            <a:r>
              <a:rPr lang="en-US" sz="2400" dirty="0" smtClean="0"/>
              <a:t> Dynamic Size  </a:t>
            </a:r>
          </a:p>
          <a:p>
            <a:pPr>
              <a:lnSpc>
                <a:spcPct val="200000"/>
              </a:lnSpc>
              <a:buFont typeface="Arial" pitchFamily="34" charset="0"/>
              <a:buChar char="•"/>
            </a:pPr>
            <a:r>
              <a:rPr lang="en-US" sz="2400" dirty="0" smtClean="0"/>
              <a:t> No Fixed Capacity</a:t>
            </a:r>
          </a:p>
          <a:p>
            <a:pPr>
              <a:lnSpc>
                <a:spcPct val="200000"/>
              </a:lnSpc>
              <a:buFont typeface="Arial" pitchFamily="34" charset="0"/>
              <a:buChar char="•"/>
            </a:pPr>
            <a:r>
              <a:rPr lang="en-US" sz="2400" dirty="0" smtClean="0"/>
              <a:t> Efficient INSERTION / DELITION</a:t>
            </a:r>
          </a:p>
          <a:p>
            <a:pPr>
              <a:lnSpc>
                <a:spcPct val="200000"/>
              </a:lnSpc>
              <a:buFont typeface="Arial" pitchFamily="34" charset="0"/>
              <a:buChar char="•"/>
            </a:pPr>
            <a:r>
              <a:rPr lang="en-US" sz="2400" dirty="0" smtClean="0"/>
              <a:t> PUSH And POP take</a:t>
            </a:r>
          </a:p>
          <a:p>
            <a:pPr>
              <a:lnSpc>
                <a:spcPct val="200000"/>
              </a:lnSpc>
              <a:buFont typeface="Arial" pitchFamily="34" charset="0"/>
              <a:buChar char="•"/>
            </a:pPr>
            <a:r>
              <a:rPr lang="en-US" sz="2400" dirty="0" smtClean="0"/>
              <a:t> O(1) Time Complexity</a:t>
            </a:r>
          </a:p>
          <a:p>
            <a:pPr>
              <a:lnSpc>
                <a:spcPct val="200000"/>
              </a:lnSpc>
              <a:buFont typeface="Arial" pitchFamily="34" charset="0"/>
              <a:buChar char="•"/>
            </a:pPr>
            <a:r>
              <a:rPr lang="en-US" sz="2400" dirty="0" smtClean="0"/>
              <a:t> Memory Allocated As Required</a:t>
            </a:r>
            <a:endParaRPr lang="en-US" sz="2400" dirty="0"/>
          </a:p>
        </p:txBody>
      </p:sp>
    </p:spTree>
  </p:cSld>
  <p:clrMapOvr>
    <a:masterClrMapping/>
  </p:clrMapOvr>
  <p:transition>
    <p:pull dir="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-228600" y="533400"/>
            <a:ext cx="9677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smtClean="0">
                <a:latin typeface="Algerian" pitchFamily="82" charset="0"/>
              </a:rPr>
              <a:t>DISAdvantages Of Stack using Linked List</a:t>
            </a:r>
            <a:endParaRPr lang="en-US" sz="2800" dirty="0">
              <a:latin typeface="Algerian" pitchFamily="8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62000" y="1447800"/>
            <a:ext cx="7772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buFont typeface="Arial" pitchFamily="34" charset="0"/>
              <a:buChar char="•"/>
            </a:pPr>
            <a:r>
              <a:rPr lang="en-US" sz="2400" dirty="0"/>
              <a:t> </a:t>
            </a:r>
            <a:r>
              <a:rPr lang="en-US" sz="2400" dirty="0" smtClean="0"/>
              <a:t>Extra Memory Required For Next Pointer  </a:t>
            </a:r>
          </a:p>
          <a:p>
            <a:pPr>
              <a:lnSpc>
                <a:spcPct val="200000"/>
              </a:lnSpc>
              <a:buFont typeface="Arial" pitchFamily="34" charset="0"/>
              <a:buChar char="•"/>
            </a:pPr>
            <a:r>
              <a:rPr lang="en-US" sz="2400" dirty="0" smtClean="0"/>
              <a:t> Pointer Handling Is Required</a:t>
            </a:r>
          </a:p>
          <a:p>
            <a:pPr>
              <a:lnSpc>
                <a:spcPct val="200000"/>
              </a:lnSpc>
              <a:buFont typeface="Arial" pitchFamily="34" charset="0"/>
              <a:buChar char="•"/>
            </a:pPr>
            <a:r>
              <a:rPr lang="en-US" sz="2400" dirty="0" smtClean="0"/>
              <a:t> Random Access Is Not Possible</a:t>
            </a:r>
          </a:p>
        </p:txBody>
      </p:sp>
    </p:spTree>
  </p:cSld>
  <p:clrMapOvr>
    <a:masterClrMapping/>
  </p:clrMapOvr>
  <p:transition>
    <p:pull dir="r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981200" y="457200"/>
            <a:ext cx="5334000" cy="76200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Applications Of Stack</a:t>
            </a:r>
            <a:endParaRPr lang="en-US" sz="2400" b="1" dirty="0"/>
          </a:p>
        </p:txBody>
      </p:sp>
      <p:sp>
        <p:nvSpPr>
          <p:cNvPr id="6" name="TextBox 5"/>
          <p:cNvSpPr txBox="1"/>
          <p:nvPr/>
        </p:nvSpPr>
        <p:spPr>
          <a:xfrm>
            <a:off x="533400" y="1600200"/>
            <a:ext cx="80772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v"/>
            </a:pPr>
            <a:r>
              <a:rPr lang="en-US" sz="2400" dirty="0" smtClean="0"/>
              <a:t> Function Calls </a:t>
            </a:r>
          </a:p>
          <a:p>
            <a:pPr>
              <a:lnSpc>
                <a:spcPct val="150000"/>
              </a:lnSpc>
              <a:buFont typeface="Wingdings" pitchFamily="2" charset="2"/>
              <a:buChar char="v"/>
            </a:pPr>
            <a:r>
              <a:rPr lang="en-US" sz="2400" dirty="0" smtClean="0"/>
              <a:t> Recursion</a:t>
            </a:r>
          </a:p>
          <a:p>
            <a:pPr>
              <a:lnSpc>
                <a:spcPct val="150000"/>
              </a:lnSpc>
              <a:buFont typeface="Wingdings" pitchFamily="2" charset="2"/>
              <a:buChar char="v"/>
            </a:pPr>
            <a:r>
              <a:rPr lang="en-US" sz="2400" dirty="0"/>
              <a:t> </a:t>
            </a:r>
            <a:r>
              <a:rPr lang="en-US" sz="2400" dirty="0" smtClean="0"/>
              <a:t>Undo / Redo</a:t>
            </a:r>
          </a:p>
          <a:p>
            <a:pPr>
              <a:lnSpc>
                <a:spcPct val="150000"/>
              </a:lnSpc>
              <a:buFont typeface="Wingdings" pitchFamily="2" charset="2"/>
              <a:buChar char="v"/>
            </a:pPr>
            <a:r>
              <a:rPr lang="en-US" sz="2400" dirty="0"/>
              <a:t> </a:t>
            </a:r>
            <a:r>
              <a:rPr lang="en-US" sz="2400" dirty="0" smtClean="0"/>
              <a:t>Browser Back Button</a:t>
            </a:r>
          </a:p>
          <a:p>
            <a:pPr>
              <a:lnSpc>
                <a:spcPct val="150000"/>
              </a:lnSpc>
              <a:buFont typeface="Wingdings" pitchFamily="2" charset="2"/>
              <a:buChar char="v"/>
            </a:pPr>
            <a:r>
              <a:rPr lang="en-US" sz="2400" dirty="0"/>
              <a:t> </a:t>
            </a:r>
            <a:r>
              <a:rPr lang="en-US" sz="2400" dirty="0" smtClean="0"/>
              <a:t>Parentheses Matching</a:t>
            </a:r>
          </a:p>
          <a:p>
            <a:pPr>
              <a:lnSpc>
                <a:spcPct val="150000"/>
              </a:lnSpc>
              <a:buFont typeface="Wingdings" pitchFamily="2" charset="2"/>
              <a:buChar char="v"/>
            </a:pPr>
            <a:r>
              <a:rPr lang="en-US" sz="2400" dirty="0"/>
              <a:t> </a:t>
            </a:r>
            <a:r>
              <a:rPr lang="en-US" sz="2400" dirty="0" smtClean="0"/>
              <a:t>Expression Evalution</a:t>
            </a:r>
          </a:p>
          <a:p>
            <a:pPr>
              <a:lnSpc>
                <a:spcPct val="150000"/>
              </a:lnSpc>
              <a:buFont typeface="Wingdings" pitchFamily="2" charset="2"/>
              <a:buChar char="v"/>
            </a:pPr>
            <a:r>
              <a:rPr lang="en-US" sz="2400" dirty="0"/>
              <a:t> </a:t>
            </a:r>
            <a:r>
              <a:rPr lang="en-US" sz="2400" dirty="0" smtClean="0"/>
              <a:t>DFS Traversal</a:t>
            </a:r>
            <a:endParaRPr lang="en-US" sz="2400" dirty="0"/>
          </a:p>
        </p:txBody>
      </p:sp>
    </p:spTree>
  </p:cSld>
  <p:clrMapOvr>
    <a:masterClrMapping/>
  </p:clrMapOvr>
  <p:transition>
    <p:randomBa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85800" y="533400"/>
            <a:ext cx="8153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/>
              <a:t>Implemnet Of  Stack Using Linked List In C++</a:t>
            </a:r>
            <a:endParaRPr lang="en-US" sz="28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762000" y="1219200"/>
            <a:ext cx="75438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#include&lt;</a:t>
            </a:r>
            <a:r>
              <a:rPr lang="en-US" dirty="0" err="1" smtClean="0"/>
              <a:t>iostream.h</a:t>
            </a:r>
            <a:r>
              <a:rPr lang="en-US" dirty="0" smtClean="0"/>
              <a:t>&gt;</a:t>
            </a:r>
          </a:p>
          <a:p>
            <a:r>
              <a:rPr lang="en-US" dirty="0" smtClean="0"/>
              <a:t>#include&lt;</a:t>
            </a:r>
            <a:r>
              <a:rPr lang="en-US" dirty="0" err="1" smtClean="0"/>
              <a:t>stdlib.h</a:t>
            </a:r>
            <a:r>
              <a:rPr lang="en-US" dirty="0" smtClean="0"/>
              <a:t>&gt;</a:t>
            </a:r>
          </a:p>
          <a:p>
            <a:endParaRPr lang="en-US" dirty="0" smtClean="0"/>
          </a:p>
          <a:p>
            <a:r>
              <a:rPr lang="en-US" dirty="0" err="1" smtClean="0"/>
              <a:t>struct</a:t>
            </a:r>
            <a:r>
              <a:rPr lang="en-US" dirty="0" smtClean="0"/>
              <a:t> node</a:t>
            </a:r>
          </a:p>
          <a:p>
            <a:r>
              <a:rPr lang="en-US" dirty="0" smtClean="0"/>
              <a:t>{</a:t>
            </a:r>
          </a:p>
          <a:p>
            <a:r>
              <a:rPr lang="en-US" dirty="0" smtClean="0"/>
              <a:t>    </a:t>
            </a:r>
            <a:r>
              <a:rPr lang="en-US" dirty="0" err="1" smtClean="0"/>
              <a:t>int</a:t>
            </a:r>
            <a:r>
              <a:rPr lang="en-US" dirty="0" smtClean="0"/>
              <a:t> info;</a:t>
            </a:r>
          </a:p>
          <a:p>
            <a:r>
              <a:rPr lang="en-US" dirty="0" smtClean="0"/>
              <a:t>    </a:t>
            </a:r>
            <a:r>
              <a:rPr lang="en-US" dirty="0" err="1" smtClean="0"/>
              <a:t>struct</a:t>
            </a:r>
            <a:r>
              <a:rPr lang="en-US" dirty="0" smtClean="0"/>
              <a:t> node *next;</a:t>
            </a:r>
          </a:p>
          <a:p>
            <a:r>
              <a:rPr lang="en-US" dirty="0" smtClean="0"/>
              <a:t>};</a:t>
            </a:r>
          </a:p>
          <a:p>
            <a:endParaRPr lang="en-US" dirty="0" smtClean="0"/>
          </a:p>
          <a:p>
            <a:r>
              <a:rPr lang="en-US" dirty="0" smtClean="0"/>
              <a:t>void </a:t>
            </a:r>
            <a:r>
              <a:rPr lang="en-US" dirty="0" err="1" smtClean="0"/>
              <a:t>insert_linked_list_stack</a:t>
            </a:r>
            <a:r>
              <a:rPr lang="en-US" dirty="0" smtClean="0"/>
              <a:t>(</a:t>
            </a:r>
            <a:r>
              <a:rPr lang="en-US" dirty="0" err="1" smtClean="0"/>
              <a:t>struct</a:t>
            </a:r>
            <a:r>
              <a:rPr lang="en-US" dirty="0" smtClean="0"/>
              <a:t> node **,</a:t>
            </a:r>
            <a:r>
              <a:rPr lang="en-US" dirty="0" err="1" smtClean="0"/>
              <a:t>int</a:t>
            </a:r>
            <a:r>
              <a:rPr lang="en-US" dirty="0" smtClean="0"/>
              <a:t>);</a:t>
            </a:r>
          </a:p>
          <a:p>
            <a:r>
              <a:rPr lang="en-US" dirty="0" smtClean="0"/>
              <a:t>void </a:t>
            </a:r>
            <a:r>
              <a:rPr lang="en-US" dirty="0" err="1" smtClean="0"/>
              <a:t>delete_linked_list_stack</a:t>
            </a:r>
            <a:r>
              <a:rPr lang="en-US" dirty="0" smtClean="0"/>
              <a:t>(</a:t>
            </a:r>
            <a:r>
              <a:rPr lang="en-US" dirty="0" err="1" smtClean="0"/>
              <a:t>struct</a:t>
            </a:r>
            <a:r>
              <a:rPr lang="en-US" dirty="0" smtClean="0"/>
              <a:t> node **);</a:t>
            </a:r>
          </a:p>
          <a:p>
            <a:r>
              <a:rPr lang="en-US" dirty="0" smtClean="0"/>
              <a:t>void </a:t>
            </a:r>
            <a:r>
              <a:rPr lang="en-US" dirty="0" err="1" smtClean="0"/>
              <a:t>peek_linked_list_stack</a:t>
            </a:r>
            <a:r>
              <a:rPr lang="en-US" dirty="0" smtClean="0"/>
              <a:t>(</a:t>
            </a:r>
            <a:r>
              <a:rPr lang="en-US" dirty="0" err="1" smtClean="0"/>
              <a:t>struct</a:t>
            </a:r>
            <a:r>
              <a:rPr lang="en-US" dirty="0" smtClean="0"/>
              <a:t> node **);</a:t>
            </a:r>
          </a:p>
          <a:p>
            <a:r>
              <a:rPr lang="en-US" dirty="0" smtClean="0"/>
              <a:t>void </a:t>
            </a:r>
            <a:r>
              <a:rPr lang="en-US" dirty="0" err="1" smtClean="0"/>
              <a:t>display_linked_list_stack</a:t>
            </a:r>
            <a:r>
              <a:rPr lang="en-US" dirty="0" smtClean="0"/>
              <a:t>(</a:t>
            </a:r>
            <a:r>
              <a:rPr lang="en-US" dirty="0" err="1" smtClean="0"/>
              <a:t>struct</a:t>
            </a:r>
            <a:r>
              <a:rPr lang="en-US" dirty="0" smtClean="0"/>
              <a:t> node **);</a:t>
            </a:r>
          </a:p>
          <a:p>
            <a:endParaRPr lang="en-US" dirty="0" smtClean="0"/>
          </a:p>
          <a:p>
            <a:r>
              <a:rPr lang="en-US" dirty="0" smtClean="0"/>
              <a:t>void main()</a:t>
            </a:r>
          </a:p>
          <a:p>
            <a:r>
              <a:rPr lang="en-US" dirty="0" smtClean="0"/>
              <a:t>{</a:t>
            </a:r>
          </a:p>
          <a:p>
            <a:r>
              <a:rPr lang="en-US" dirty="0" smtClean="0"/>
              <a:t>    </a:t>
            </a:r>
            <a:r>
              <a:rPr lang="en-US" dirty="0" err="1" smtClean="0"/>
              <a:t>struct</a:t>
            </a:r>
            <a:r>
              <a:rPr lang="en-US" dirty="0" smtClean="0"/>
              <a:t> node *top = NULL;</a:t>
            </a:r>
          </a:p>
          <a:p>
            <a:r>
              <a:rPr lang="en-US" dirty="0" smtClean="0"/>
              <a:t>    </a:t>
            </a:r>
            <a:r>
              <a:rPr lang="en-US" dirty="0" err="1" smtClean="0"/>
              <a:t>int</a:t>
            </a:r>
            <a:r>
              <a:rPr lang="en-US" dirty="0" smtClean="0"/>
              <a:t> </a:t>
            </a:r>
            <a:r>
              <a:rPr lang="en-US" dirty="0" err="1" smtClean="0"/>
              <a:t>ch,val</a:t>
            </a:r>
            <a:r>
              <a:rPr lang="en-US" dirty="0" smtClean="0"/>
              <a:t>;</a:t>
            </a:r>
          </a:p>
          <a:p>
            <a:endParaRPr lang="en-US" dirty="0" smtClean="0"/>
          </a:p>
          <a:p>
            <a:r>
              <a:rPr lang="en-US" dirty="0" smtClean="0"/>
              <a:t>    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81000" y="457200"/>
            <a:ext cx="845820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do</a:t>
            </a:r>
          </a:p>
          <a:p>
            <a:r>
              <a:rPr lang="en-US" dirty="0" smtClean="0"/>
              <a:t>    {</a:t>
            </a:r>
          </a:p>
          <a:p>
            <a:r>
              <a:rPr lang="en-US" dirty="0" smtClean="0"/>
              <a:t>	</a:t>
            </a:r>
            <a:r>
              <a:rPr lang="en-US" dirty="0" err="1" smtClean="0"/>
              <a:t>cout</a:t>
            </a:r>
            <a:r>
              <a:rPr lang="en-US" dirty="0" smtClean="0"/>
              <a:t>&lt;&lt;"\n 1. Insert \n 2. Delete \n 3. Peek \n 4. Display \n 5. Exit \n";</a:t>
            </a:r>
          </a:p>
          <a:p>
            <a:endParaRPr lang="en-US" dirty="0" smtClean="0"/>
          </a:p>
          <a:p>
            <a:r>
              <a:rPr lang="en-US" dirty="0" smtClean="0"/>
              <a:t>	</a:t>
            </a:r>
            <a:r>
              <a:rPr lang="en-US" dirty="0" err="1" smtClean="0"/>
              <a:t>cout</a:t>
            </a:r>
            <a:r>
              <a:rPr lang="en-US" dirty="0" smtClean="0"/>
              <a:t>&lt;&lt;"\n Enter The Ch : ";</a:t>
            </a:r>
          </a:p>
          <a:p>
            <a:r>
              <a:rPr lang="en-US" dirty="0" smtClean="0"/>
              <a:t>	</a:t>
            </a:r>
            <a:r>
              <a:rPr lang="en-US" dirty="0" err="1" smtClean="0"/>
              <a:t>cin</a:t>
            </a:r>
            <a:r>
              <a:rPr lang="en-US" dirty="0" smtClean="0"/>
              <a:t>&gt;&gt;</a:t>
            </a:r>
            <a:r>
              <a:rPr lang="en-US" dirty="0" err="1" smtClean="0"/>
              <a:t>ch</a:t>
            </a:r>
            <a:r>
              <a:rPr lang="en-US" dirty="0" smtClean="0"/>
              <a:t>;</a:t>
            </a:r>
          </a:p>
          <a:p>
            <a:endParaRPr lang="en-US" dirty="0" smtClean="0"/>
          </a:p>
          <a:p>
            <a:r>
              <a:rPr lang="en-US" dirty="0" smtClean="0"/>
              <a:t>	switch(</a:t>
            </a:r>
            <a:r>
              <a:rPr lang="en-US" dirty="0" err="1" smtClean="0"/>
              <a:t>ch</a:t>
            </a:r>
            <a:r>
              <a:rPr lang="en-US" dirty="0" smtClean="0"/>
              <a:t>)</a:t>
            </a:r>
          </a:p>
          <a:p>
            <a:r>
              <a:rPr lang="en-US" dirty="0" smtClean="0"/>
              <a:t>	{</a:t>
            </a:r>
          </a:p>
          <a:p>
            <a:r>
              <a:rPr lang="en-US" dirty="0" smtClean="0"/>
              <a:t>	    case 1: </a:t>
            </a:r>
            <a:r>
              <a:rPr lang="en-US" dirty="0" err="1" smtClean="0"/>
              <a:t>cout</a:t>
            </a:r>
            <a:r>
              <a:rPr lang="en-US" dirty="0" smtClean="0"/>
              <a:t>&lt;&lt;"\n Enter The Val : ";</a:t>
            </a:r>
          </a:p>
          <a:p>
            <a:r>
              <a:rPr lang="en-US" dirty="0" smtClean="0"/>
              <a:t>		    </a:t>
            </a:r>
            <a:r>
              <a:rPr lang="en-US" dirty="0" err="1" smtClean="0"/>
              <a:t>cin</a:t>
            </a:r>
            <a:r>
              <a:rPr lang="en-US" dirty="0" smtClean="0"/>
              <a:t>&gt;&gt;</a:t>
            </a:r>
            <a:r>
              <a:rPr lang="en-US" dirty="0" err="1" smtClean="0"/>
              <a:t>val</a:t>
            </a:r>
            <a:r>
              <a:rPr lang="en-US" dirty="0" smtClean="0"/>
              <a:t>;</a:t>
            </a:r>
          </a:p>
          <a:p>
            <a:r>
              <a:rPr lang="en-US" dirty="0" smtClean="0"/>
              <a:t>		    </a:t>
            </a:r>
            <a:r>
              <a:rPr lang="en-US" dirty="0" err="1" smtClean="0"/>
              <a:t>insert_linked_list_stack</a:t>
            </a:r>
            <a:r>
              <a:rPr lang="en-US" dirty="0" smtClean="0"/>
              <a:t>(&amp;</a:t>
            </a:r>
            <a:r>
              <a:rPr lang="en-US" dirty="0" err="1" smtClean="0"/>
              <a:t>top,val</a:t>
            </a:r>
            <a:r>
              <a:rPr lang="en-US" dirty="0" smtClean="0"/>
              <a:t>);</a:t>
            </a:r>
          </a:p>
          <a:p>
            <a:r>
              <a:rPr lang="en-US" dirty="0" smtClean="0"/>
              <a:t>		    break;</a:t>
            </a:r>
          </a:p>
          <a:p>
            <a:endParaRPr lang="en-US" dirty="0" smtClean="0"/>
          </a:p>
          <a:p>
            <a:r>
              <a:rPr lang="en-US" dirty="0" smtClean="0"/>
              <a:t>	    case 2: </a:t>
            </a:r>
            <a:r>
              <a:rPr lang="en-US" dirty="0" err="1" smtClean="0"/>
              <a:t>delete_linked_list_stack</a:t>
            </a:r>
            <a:r>
              <a:rPr lang="en-US" dirty="0" smtClean="0"/>
              <a:t>(&amp;top);</a:t>
            </a:r>
          </a:p>
          <a:p>
            <a:r>
              <a:rPr lang="en-US" dirty="0" smtClean="0"/>
              <a:t>		   break;</a:t>
            </a:r>
          </a:p>
          <a:p>
            <a:endParaRPr lang="en-US" dirty="0" smtClean="0"/>
          </a:p>
          <a:p>
            <a:r>
              <a:rPr lang="en-US" dirty="0" smtClean="0"/>
              <a:t>	    case 3: </a:t>
            </a:r>
            <a:r>
              <a:rPr lang="en-US" dirty="0" err="1" smtClean="0"/>
              <a:t>peek_linked_list_stack</a:t>
            </a:r>
            <a:r>
              <a:rPr lang="en-US" dirty="0" smtClean="0"/>
              <a:t>(&amp;top);</a:t>
            </a:r>
          </a:p>
          <a:p>
            <a:r>
              <a:rPr lang="en-US" dirty="0" smtClean="0"/>
              <a:t>		   break;</a:t>
            </a:r>
          </a:p>
          <a:p>
            <a:endParaRPr lang="en-US" dirty="0" smtClean="0"/>
          </a:p>
          <a:p>
            <a:r>
              <a:rPr lang="en-US" dirty="0" smtClean="0"/>
              <a:t>	    case 4: </a:t>
            </a:r>
            <a:r>
              <a:rPr lang="en-US" dirty="0" err="1" smtClean="0"/>
              <a:t>display_linked_list_stack</a:t>
            </a:r>
            <a:r>
              <a:rPr lang="en-US" dirty="0" smtClean="0"/>
              <a:t>(&amp;top);</a:t>
            </a:r>
          </a:p>
          <a:p>
            <a:r>
              <a:rPr lang="en-US" dirty="0" smtClean="0"/>
              <a:t>		   break;</a:t>
            </a:r>
          </a:p>
          <a:p>
            <a:endParaRPr lang="en-US" dirty="0" smtClean="0"/>
          </a:p>
          <a:p>
            <a:r>
              <a:rPr lang="en-US" dirty="0" smtClean="0"/>
              <a:t>	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04800" y="381000"/>
            <a:ext cx="853440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 case 5: exit(0);</a:t>
            </a:r>
          </a:p>
          <a:p>
            <a:r>
              <a:rPr lang="en-US" dirty="0" smtClean="0"/>
              <a:t>		    break;</a:t>
            </a:r>
          </a:p>
          <a:p>
            <a:endParaRPr lang="en-US" dirty="0" smtClean="0"/>
          </a:p>
          <a:p>
            <a:r>
              <a:rPr lang="en-US" dirty="0" smtClean="0"/>
              <a:t>            default: </a:t>
            </a:r>
            <a:r>
              <a:rPr lang="en-US" dirty="0" err="1" smtClean="0"/>
              <a:t>cout</a:t>
            </a:r>
            <a:r>
              <a:rPr lang="en-US" dirty="0" smtClean="0"/>
              <a:t>&lt;&lt;"\n Wrong Choice";</a:t>
            </a:r>
          </a:p>
          <a:p>
            <a:r>
              <a:rPr lang="en-US" dirty="0" smtClean="0"/>
              <a:t>        }</a:t>
            </a:r>
          </a:p>
          <a:p>
            <a:r>
              <a:rPr lang="en-US" dirty="0" smtClean="0"/>
              <a:t>    } while (1);</a:t>
            </a:r>
          </a:p>
          <a:p>
            <a:r>
              <a:rPr lang="en-US" dirty="0" smtClean="0"/>
              <a:t>    </a:t>
            </a:r>
          </a:p>
          <a:p>
            <a:r>
              <a:rPr lang="en-US" dirty="0" smtClean="0"/>
              <a:t>}</a:t>
            </a:r>
          </a:p>
          <a:p>
            <a:endParaRPr lang="en-US" dirty="0" smtClean="0"/>
          </a:p>
          <a:p>
            <a:r>
              <a:rPr lang="en-US" dirty="0" smtClean="0"/>
              <a:t>void </a:t>
            </a:r>
            <a:r>
              <a:rPr lang="en-US" dirty="0" err="1" smtClean="0"/>
              <a:t>insert_linked_list_stack</a:t>
            </a:r>
            <a:r>
              <a:rPr lang="en-US" dirty="0" smtClean="0"/>
              <a:t>(</a:t>
            </a:r>
            <a:r>
              <a:rPr lang="en-US" dirty="0" err="1" smtClean="0"/>
              <a:t>struct</a:t>
            </a:r>
            <a:r>
              <a:rPr lang="en-US" dirty="0" smtClean="0"/>
              <a:t> node **</a:t>
            </a:r>
            <a:r>
              <a:rPr lang="en-US" dirty="0" err="1" smtClean="0"/>
              <a:t>top,int</a:t>
            </a:r>
            <a:r>
              <a:rPr lang="en-US" dirty="0" smtClean="0"/>
              <a:t> </a:t>
            </a:r>
            <a:r>
              <a:rPr lang="en-US" dirty="0" err="1" smtClean="0"/>
              <a:t>val</a:t>
            </a:r>
            <a:r>
              <a:rPr lang="en-US" dirty="0" smtClean="0"/>
              <a:t>)</a:t>
            </a:r>
          </a:p>
          <a:p>
            <a:r>
              <a:rPr lang="en-US" dirty="0" smtClean="0"/>
              <a:t>{</a:t>
            </a:r>
          </a:p>
          <a:p>
            <a:r>
              <a:rPr lang="en-US" dirty="0" smtClean="0"/>
              <a:t>    </a:t>
            </a:r>
            <a:r>
              <a:rPr lang="en-US" dirty="0" err="1" smtClean="0"/>
              <a:t>struct</a:t>
            </a:r>
            <a:r>
              <a:rPr lang="en-US" dirty="0" smtClean="0"/>
              <a:t> node *</a:t>
            </a:r>
            <a:r>
              <a:rPr lang="en-US" dirty="0" err="1" smtClean="0"/>
              <a:t>nd</a:t>
            </a:r>
            <a:r>
              <a:rPr lang="en-US" dirty="0" smtClean="0"/>
              <a:t>;</a:t>
            </a:r>
          </a:p>
          <a:p>
            <a:endParaRPr lang="en-US" dirty="0" smtClean="0"/>
          </a:p>
          <a:p>
            <a:r>
              <a:rPr lang="en-US" dirty="0" smtClean="0"/>
              <a:t>    </a:t>
            </a:r>
            <a:r>
              <a:rPr lang="en-US" dirty="0" err="1" smtClean="0"/>
              <a:t>nd</a:t>
            </a:r>
            <a:r>
              <a:rPr lang="en-US" dirty="0" smtClean="0"/>
              <a:t> = (</a:t>
            </a:r>
            <a:r>
              <a:rPr lang="en-US" dirty="0" err="1" smtClean="0"/>
              <a:t>struct</a:t>
            </a:r>
            <a:r>
              <a:rPr lang="en-US" dirty="0" smtClean="0"/>
              <a:t> node *)</a:t>
            </a:r>
            <a:r>
              <a:rPr lang="en-US" dirty="0" err="1" smtClean="0"/>
              <a:t>malloc</a:t>
            </a:r>
            <a:r>
              <a:rPr lang="en-US" dirty="0" smtClean="0"/>
              <a:t>(</a:t>
            </a:r>
            <a:r>
              <a:rPr lang="en-US" dirty="0" err="1" smtClean="0"/>
              <a:t>sizeof</a:t>
            </a:r>
            <a:r>
              <a:rPr lang="en-US" dirty="0" smtClean="0"/>
              <a:t>(</a:t>
            </a:r>
            <a:r>
              <a:rPr lang="en-US" dirty="0" err="1" smtClean="0"/>
              <a:t>struct</a:t>
            </a:r>
            <a:r>
              <a:rPr lang="en-US" dirty="0" smtClean="0"/>
              <a:t> node));</a:t>
            </a:r>
          </a:p>
          <a:p>
            <a:endParaRPr lang="en-US" dirty="0" smtClean="0"/>
          </a:p>
          <a:p>
            <a:r>
              <a:rPr lang="en-US" dirty="0" smtClean="0"/>
              <a:t>    </a:t>
            </a:r>
            <a:r>
              <a:rPr lang="en-US" dirty="0" err="1" smtClean="0"/>
              <a:t>nd</a:t>
            </a:r>
            <a:r>
              <a:rPr lang="en-US" dirty="0" smtClean="0"/>
              <a:t>-&gt;info = </a:t>
            </a:r>
            <a:r>
              <a:rPr lang="en-US" dirty="0" err="1" smtClean="0"/>
              <a:t>val</a:t>
            </a:r>
            <a:r>
              <a:rPr lang="en-US" dirty="0" smtClean="0"/>
              <a:t>;</a:t>
            </a:r>
          </a:p>
          <a:p>
            <a:r>
              <a:rPr lang="en-US" dirty="0" smtClean="0"/>
              <a:t>    </a:t>
            </a:r>
            <a:r>
              <a:rPr lang="en-US" dirty="0" err="1" smtClean="0"/>
              <a:t>nd</a:t>
            </a:r>
            <a:r>
              <a:rPr lang="en-US" dirty="0" smtClean="0"/>
              <a:t>-&gt;next = *top;</a:t>
            </a:r>
          </a:p>
          <a:p>
            <a:endParaRPr lang="en-US" dirty="0" smtClean="0"/>
          </a:p>
          <a:p>
            <a:r>
              <a:rPr lang="en-US" dirty="0" smtClean="0"/>
              <a:t>    *top = </a:t>
            </a:r>
            <a:r>
              <a:rPr lang="en-US" dirty="0" err="1" smtClean="0"/>
              <a:t>nd</a:t>
            </a:r>
            <a:r>
              <a:rPr lang="en-US" dirty="0" smtClean="0"/>
              <a:t>;</a:t>
            </a:r>
          </a:p>
          <a:p>
            <a:endParaRPr lang="en-US" dirty="0" smtClean="0"/>
          </a:p>
          <a:p>
            <a:r>
              <a:rPr lang="en-US" dirty="0" smtClean="0"/>
              <a:t>    </a:t>
            </a:r>
            <a:r>
              <a:rPr lang="en-US" dirty="0" err="1" smtClean="0"/>
              <a:t>cout</a:t>
            </a:r>
            <a:r>
              <a:rPr lang="en-US" dirty="0" smtClean="0"/>
              <a:t>&lt;&lt;</a:t>
            </a:r>
            <a:r>
              <a:rPr lang="en-US" dirty="0" err="1" smtClean="0"/>
              <a:t>val</a:t>
            </a:r>
            <a:r>
              <a:rPr lang="en-US" dirty="0" smtClean="0"/>
              <a:t>&lt;&lt;" Value Inserted Successfully";</a:t>
            </a:r>
          </a:p>
          <a:p>
            <a:r>
              <a:rPr lang="en-US" dirty="0" smtClean="0"/>
              <a:t>}</a:t>
            </a:r>
          </a:p>
          <a:p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28600" y="381000"/>
            <a:ext cx="8534400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void </a:t>
            </a:r>
            <a:r>
              <a:rPr lang="en-US" dirty="0" err="1" smtClean="0"/>
              <a:t>delete_linked_list_stack</a:t>
            </a:r>
            <a:r>
              <a:rPr lang="en-US" dirty="0" smtClean="0"/>
              <a:t>(</a:t>
            </a:r>
            <a:r>
              <a:rPr lang="en-US" dirty="0" err="1" smtClean="0"/>
              <a:t>struct</a:t>
            </a:r>
            <a:r>
              <a:rPr lang="en-US" dirty="0" smtClean="0"/>
              <a:t> node **top)</a:t>
            </a:r>
          </a:p>
          <a:p>
            <a:r>
              <a:rPr lang="en-US" dirty="0" smtClean="0"/>
              <a:t>{</a:t>
            </a:r>
          </a:p>
          <a:p>
            <a:r>
              <a:rPr lang="en-US" dirty="0" smtClean="0"/>
              <a:t>    </a:t>
            </a:r>
            <a:r>
              <a:rPr lang="en-US" dirty="0" err="1" smtClean="0"/>
              <a:t>struct</a:t>
            </a:r>
            <a:r>
              <a:rPr lang="en-US" dirty="0" smtClean="0"/>
              <a:t> node *temp;</a:t>
            </a:r>
          </a:p>
          <a:p>
            <a:r>
              <a:rPr lang="en-US" dirty="0" smtClean="0"/>
              <a:t>    if(*top == NULL)</a:t>
            </a:r>
          </a:p>
          <a:p>
            <a:r>
              <a:rPr lang="en-US" dirty="0" smtClean="0"/>
              <a:t>    {</a:t>
            </a:r>
          </a:p>
          <a:p>
            <a:r>
              <a:rPr lang="en-US" dirty="0" smtClean="0"/>
              <a:t>        </a:t>
            </a:r>
            <a:r>
              <a:rPr lang="en-US" dirty="0" err="1" smtClean="0"/>
              <a:t>cout</a:t>
            </a:r>
            <a:r>
              <a:rPr lang="en-US" dirty="0" smtClean="0"/>
              <a:t>&lt;&lt;"\n Stack Underflow";</a:t>
            </a:r>
          </a:p>
          <a:p>
            <a:r>
              <a:rPr lang="en-US" dirty="0" smtClean="0"/>
              <a:t>        return;</a:t>
            </a:r>
          </a:p>
          <a:p>
            <a:r>
              <a:rPr lang="en-US" dirty="0" smtClean="0"/>
              <a:t>    }</a:t>
            </a:r>
          </a:p>
          <a:p>
            <a:endParaRPr lang="en-US" dirty="0" smtClean="0"/>
          </a:p>
          <a:p>
            <a:r>
              <a:rPr lang="en-US" dirty="0" smtClean="0"/>
              <a:t>    temp = *top;</a:t>
            </a:r>
          </a:p>
          <a:p>
            <a:endParaRPr lang="en-US" dirty="0" smtClean="0"/>
          </a:p>
          <a:p>
            <a:r>
              <a:rPr lang="en-US" dirty="0" smtClean="0"/>
              <a:t>    </a:t>
            </a:r>
            <a:r>
              <a:rPr lang="en-US" dirty="0" err="1" smtClean="0"/>
              <a:t>cout</a:t>
            </a:r>
            <a:r>
              <a:rPr lang="en-US" dirty="0" smtClean="0"/>
              <a:t>&lt;&lt;"\n"&lt;&lt;(*top)-&gt;info&lt;&lt;" Value </a:t>
            </a:r>
            <a:r>
              <a:rPr lang="en-US" dirty="0" err="1" smtClean="0"/>
              <a:t>Poped</a:t>
            </a:r>
            <a:r>
              <a:rPr lang="en-US" dirty="0" smtClean="0"/>
              <a:t>";</a:t>
            </a:r>
          </a:p>
          <a:p>
            <a:r>
              <a:rPr lang="en-US" dirty="0" smtClean="0"/>
              <a:t>    *top = (*top)-&gt;next;</a:t>
            </a:r>
          </a:p>
          <a:p>
            <a:endParaRPr lang="en-US" dirty="0" smtClean="0"/>
          </a:p>
          <a:p>
            <a:r>
              <a:rPr lang="en-US" dirty="0" smtClean="0"/>
              <a:t>    delete temp;</a:t>
            </a:r>
          </a:p>
          <a:p>
            <a:r>
              <a:rPr lang="en-US" dirty="0" smtClean="0"/>
              <a:t>}</a:t>
            </a:r>
          </a:p>
          <a:p>
            <a:endParaRPr lang="en-US" dirty="0" smtClean="0"/>
          </a:p>
          <a:p>
            <a:r>
              <a:rPr lang="en-US" dirty="0" smtClean="0"/>
              <a:t>void </a:t>
            </a:r>
            <a:r>
              <a:rPr lang="en-US" dirty="0" err="1" smtClean="0"/>
              <a:t>peek_linked_list_stack</a:t>
            </a:r>
            <a:r>
              <a:rPr lang="en-US" dirty="0" smtClean="0"/>
              <a:t>(</a:t>
            </a:r>
            <a:r>
              <a:rPr lang="en-US" dirty="0" err="1" smtClean="0"/>
              <a:t>struct</a:t>
            </a:r>
            <a:r>
              <a:rPr lang="en-US" dirty="0" smtClean="0"/>
              <a:t> node **top)</a:t>
            </a:r>
          </a:p>
          <a:p>
            <a:r>
              <a:rPr lang="en-US" dirty="0" smtClean="0"/>
              <a:t>{</a:t>
            </a:r>
          </a:p>
          <a:p>
            <a:r>
              <a:rPr lang="en-US" dirty="0" smtClean="0"/>
              <a:t>    if(*top == NULL)</a:t>
            </a:r>
          </a:p>
          <a:p>
            <a:r>
              <a:rPr lang="en-US" dirty="0" smtClean="0"/>
              <a:t>    {</a:t>
            </a:r>
          </a:p>
          <a:p>
            <a:r>
              <a:rPr lang="en-US" dirty="0" smtClean="0"/>
              <a:t>        </a:t>
            </a:r>
            <a:r>
              <a:rPr lang="en-US" dirty="0" err="1" smtClean="0"/>
              <a:t>cout</a:t>
            </a:r>
            <a:r>
              <a:rPr lang="en-US" dirty="0" smtClean="0"/>
              <a:t>&lt;&lt;"\n Stack Underflow";</a:t>
            </a:r>
          </a:p>
          <a:p>
            <a:r>
              <a:rPr lang="en-US" dirty="0" smtClean="0"/>
              <a:t>    }</a:t>
            </a:r>
          </a:p>
          <a:p>
            <a:endParaRPr lang="en-US" dirty="0" smtClean="0"/>
          </a:p>
          <a:p>
            <a:r>
              <a:rPr lang="en-US" dirty="0" smtClean="0"/>
              <a:t>   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457200"/>
            <a:ext cx="8305800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 </a:t>
            </a:r>
            <a:r>
              <a:rPr lang="en-US" dirty="0" err="1" smtClean="0"/>
              <a:t>cout</a:t>
            </a:r>
            <a:r>
              <a:rPr lang="en-US" dirty="0" smtClean="0"/>
              <a:t>&lt;&lt;"Peek Value : "&lt;&lt;(*top)-&gt;info&lt;&lt;</a:t>
            </a:r>
            <a:r>
              <a:rPr lang="en-US" dirty="0" err="1" smtClean="0"/>
              <a:t>endl</a:t>
            </a:r>
            <a:r>
              <a:rPr lang="en-US" dirty="0" smtClean="0"/>
              <a:t>;</a:t>
            </a:r>
          </a:p>
          <a:p>
            <a:r>
              <a:rPr lang="en-US" dirty="0" smtClean="0"/>
              <a:t>}</a:t>
            </a:r>
          </a:p>
          <a:p>
            <a:endParaRPr lang="en-US" dirty="0" smtClean="0"/>
          </a:p>
          <a:p>
            <a:r>
              <a:rPr lang="en-US" dirty="0" smtClean="0"/>
              <a:t>void </a:t>
            </a:r>
            <a:r>
              <a:rPr lang="en-US" dirty="0" err="1" smtClean="0"/>
              <a:t>display_linked_list_stack</a:t>
            </a:r>
            <a:r>
              <a:rPr lang="en-US" dirty="0" smtClean="0"/>
              <a:t>(</a:t>
            </a:r>
            <a:r>
              <a:rPr lang="en-US" dirty="0" err="1" smtClean="0"/>
              <a:t>struct</a:t>
            </a:r>
            <a:r>
              <a:rPr lang="en-US" dirty="0" smtClean="0"/>
              <a:t> node **top)</a:t>
            </a:r>
          </a:p>
          <a:p>
            <a:r>
              <a:rPr lang="en-US" dirty="0" smtClean="0"/>
              <a:t>{</a:t>
            </a:r>
          </a:p>
          <a:p>
            <a:r>
              <a:rPr lang="en-US" dirty="0" smtClean="0"/>
              <a:t>    </a:t>
            </a:r>
            <a:r>
              <a:rPr lang="en-US" dirty="0" err="1" smtClean="0"/>
              <a:t>struct</a:t>
            </a:r>
            <a:r>
              <a:rPr lang="en-US" dirty="0" smtClean="0"/>
              <a:t> node *temp;</a:t>
            </a:r>
          </a:p>
          <a:p>
            <a:endParaRPr lang="en-US" dirty="0" smtClean="0"/>
          </a:p>
          <a:p>
            <a:r>
              <a:rPr lang="en-US" dirty="0" smtClean="0"/>
              <a:t>    temp = *top;</a:t>
            </a:r>
          </a:p>
          <a:p>
            <a:endParaRPr lang="en-US" dirty="0" smtClean="0"/>
          </a:p>
          <a:p>
            <a:r>
              <a:rPr lang="en-US" dirty="0" smtClean="0"/>
              <a:t>    if(temp == NULL)</a:t>
            </a:r>
          </a:p>
          <a:p>
            <a:r>
              <a:rPr lang="en-US" dirty="0" smtClean="0"/>
              <a:t>    {</a:t>
            </a:r>
          </a:p>
          <a:p>
            <a:r>
              <a:rPr lang="en-US" dirty="0" smtClean="0"/>
              <a:t>        </a:t>
            </a:r>
            <a:r>
              <a:rPr lang="en-US" dirty="0" err="1" smtClean="0"/>
              <a:t>cout</a:t>
            </a:r>
            <a:r>
              <a:rPr lang="en-US" dirty="0" smtClean="0"/>
              <a:t>&lt;&lt;"\n Stack Underflow";</a:t>
            </a:r>
          </a:p>
          <a:p>
            <a:r>
              <a:rPr lang="en-US" dirty="0" smtClean="0"/>
              <a:t>        return;</a:t>
            </a:r>
          </a:p>
          <a:p>
            <a:r>
              <a:rPr lang="en-US" dirty="0" smtClean="0"/>
              <a:t>    }</a:t>
            </a:r>
          </a:p>
          <a:p>
            <a:endParaRPr lang="en-US" dirty="0" smtClean="0"/>
          </a:p>
          <a:p>
            <a:r>
              <a:rPr lang="en-US" dirty="0" smtClean="0"/>
              <a:t>    while(temp != NULL)</a:t>
            </a:r>
          </a:p>
          <a:p>
            <a:r>
              <a:rPr lang="en-US" dirty="0" smtClean="0"/>
              <a:t>    {</a:t>
            </a:r>
          </a:p>
          <a:p>
            <a:r>
              <a:rPr lang="en-US" dirty="0" smtClean="0"/>
              <a:t>        </a:t>
            </a:r>
            <a:r>
              <a:rPr lang="en-US" dirty="0" err="1" smtClean="0"/>
              <a:t>cout</a:t>
            </a:r>
            <a:r>
              <a:rPr lang="en-US" dirty="0" smtClean="0"/>
              <a:t>&lt;&lt;"\n"&lt;&lt;temp-&gt;info&lt;&lt;</a:t>
            </a:r>
            <a:r>
              <a:rPr lang="en-US" dirty="0" err="1" smtClean="0"/>
              <a:t>endl</a:t>
            </a:r>
            <a:r>
              <a:rPr lang="en-US" dirty="0" smtClean="0"/>
              <a:t>;</a:t>
            </a:r>
          </a:p>
          <a:p>
            <a:r>
              <a:rPr lang="en-US" dirty="0" smtClean="0"/>
              <a:t>        temp = temp-&gt;next;</a:t>
            </a:r>
          </a:p>
          <a:p>
            <a:r>
              <a:rPr lang="en-US" dirty="0" smtClean="0"/>
              <a:t>    }</a:t>
            </a:r>
          </a:p>
          <a:p>
            <a:r>
              <a:rPr lang="en-US" dirty="0" smtClean="0"/>
              <a:t>}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per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Paper">
      <a:majorFont>
        <a:latin typeface="Constantia"/>
        <a:ea typeface=""/>
        <a:cs typeface=""/>
        <a:font script="Jpan" typeface="HG明朝E"/>
        <a:font script="Hang" typeface="궁서"/>
        <a:font script="Hans" typeface="华文新魏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onstantia"/>
        <a:ea typeface=""/>
        <a:cs typeface=""/>
        <a:font script="Jpan" typeface="HG明朝E"/>
        <a:font script="Hang" typeface="궁서"/>
        <a:font script="Hans" typeface="华文新魏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Paper">
      <a: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63000"/>
                <a:tint val="82000"/>
              </a:schemeClr>
              <a:schemeClr val="phClr">
                <a:tint val="10000"/>
                <a:satMod val="400000"/>
              </a:schemeClr>
            </a:duotone>
          </a:blip>
          <a:tile tx="0" ty="0" sx="40000" sy="40000" flip="none" algn="tl"/>
        </a:blipFill>
        <a:blipFill>
          <a:blip xmlns:r="http://schemas.openxmlformats.org/officeDocument/2006/relationships" r:embed="rId1">
            <a:duotone>
              <a:schemeClr val="phClr">
                <a:shade val="40000"/>
              </a:schemeClr>
              <a:schemeClr val="phClr">
                <a:tint val="42000"/>
              </a:schemeClr>
            </a:duotone>
          </a:blip>
          <a:tile tx="0" ty="0" sx="40000" sy="40000" flip="none" algn="tl"/>
        </a:blipFill>
      </a:fillStyleLst>
      <a:lnStyleLst>
        <a:ln w="127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635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95000" rotWithShape="0">
              <a:srgbClr val="000000">
                <a:alpha val="50000"/>
              </a:srgbClr>
            </a:outerShdw>
            <a:softEdge rad="12700"/>
          </a:effectLst>
        </a:effectStyle>
        <a:effectStyle>
          <a:effectLst>
            <a:outerShdw blurRad="95000" rotWithShape="0">
              <a:srgbClr val="000000">
                <a:alpha val="50000"/>
              </a:srgbClr>
            </a:outerShdw>
            <a:softEdge rad="12700"/>
          </a:effectLst>
        </a:effectStyle>
        <a:effectStyle>
          <a:effectLst>
            <a:outerShdw blurRad="95000" algn="tl" rotWithShape="0">
              <a:srgbClr val="000000">
                <a:alpha val="50000"/>
              </a:srgbClr>
            </a:outerShdw>
          </a:effectLst>
          <a:scene3d>
            <a:camera prst="orthographicFront"/>
            <a:lightRig rig="soft" dir="t">
              <a:rot lat="0" lon="0" rev="18000000"/>
            </a:lightRig>
          </a:scene3d>
          <a:sp3d prstMaterial="dkEdge">
            <a:bevelT w="73660" h="44450" prst="riblet"/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55000"/>
                <a:alpha val="20000"/>
              </a:schemeClr>
              <a:schemeClr val="phClr">
                <a:tint val="40000"/>
                <a:shade val="90000"/>
                <a:satMod val="60000"/>
                <a:alpha val="20000"/>
              </a:schemeClr>
            </a:duotone>
          </a:blip>
          <a:tile tx="0" ty="0" sx="58000" sy="38000" flip="none" algn="tl"/>
        </a:blipFill>
        <a:blipFill>
          <a:blip xmlns:r="http://schemas.openxmlformats.org/officeDocument/2006/relationships" r:embed="rId2">
            <a:duotone>
              <a:schemeClr val="phClr">
                <a:shade val="12000"/>
                <a:satMod val="240000"/>
              </a:schemeClr>
              <a:schemeClr val="phClr">
                <a:tint val="65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Paper</Template>
  <TotalTime>201</TotalTime>
  <Words>608</Words>
  <Application>Microsoft Office PowerPoint</Application>
  <PresentationFormat>On-screen Show (4:3)</PresentationFormat>
  <Paragraphs>219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Paper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Darshan</dc:creator>
  <cp:lastModifiedBy>Darshan</cp:lastModifiedBy>
  <cp:revision>32</cp:revision>
  <dcterms:created xsi:type="dcterms:W3CDTF">2026-09-24T16:11:55Z</dcterms:created>
  <dcterms:modified xsi:type="dcterms:W3CDTF">2026-09-25T17:35:41Z</dcterms:modified>
</cp:coreProperties>
</file>